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22" r:id="rId3"/>
    <p:sldId id="298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280" r:id="rId14"/>
  </p:sldIdLst>
  <p:sldSz cx="12192000" cy="6858000"/>
  <p:notesSz cx="6858000" cy="9144000"/>
  <p:embeddedFontLst>
    <p:embeddedFont>
      <p:font typeface="Franklin Gothic" panose="020B0604020202020204" charset="0"/>
      <p:bold r:id="rId16"/>
    </p:embeddedFont>
    <p:embeddedFont>
      <p:font typeface="Libre Franklin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6" roundtripDataSignature="AMtx7mij+skMm+Ik5HJLd0abJ7iKuqpW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36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78BCE896-A532-18C3-04AC-E946BDFD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C10FBDB4-1EB0-45F4-B05F-3F9996B0E2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E9C33BF7-1775-713B-E3BC-8369013840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2E70FBFC-C67E-7D48-001A-8919001C527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910151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501C8F1-469F-100A-E78F-C1636CAD8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CAABCD11-8707-AB14-A1B1-DEDC178FAA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A81FEE84-9134-C7BC-199C-486DE96064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DEDFBD7D-7131-73DC-2C9F-415707AEC3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23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8F940D0-60FE-A971-1AB6-35414AA98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FA605F59-E825-80E3-1219-6A71B5182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0A819793-F259-3E96-99B1-E52C6ADDEB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44459546-9EAF-AC9F-5228-422BEC1FF5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70677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2F08790F-CA05-161C-DCA5-013F859A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8EFE6F8E-BE0C-93B7-37DF-E6178970C1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BC65EC8E-5918-7050-96A9-D3CAADAC7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99D935D8-39BE-4B46-6AAE-59E5177E61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17017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A9B3D14-0FFE-DAC4-DDAF-560F74B4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BDCC184F-29F3-7907-135F-216EDAE687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337165F9-DB32-C352-1788-65EFEF9CD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8BB6B14B-16AC-BE0D-A182-0EE0124D78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002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A50ACCCC-5C05-6D5A-28D0-2A15D65DA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BF615FCF-DA37-80DB-B1F6-53BB0E6023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29ED34D3-DAE4-CCB9-1D2C-F301E4A37B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319DE7F0-4932-BB7E-0E64-9FEC9EF9D9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5277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B9161CD5-4395-A029-B15F-A34D694EB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13190E81-2BD0-2F41-F646-251021A584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7F0F0E71-E85E-F2ED-9DE1-18057E8D1B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F5D0DDB5-E7A3-5B7B-11E2-4E0C580D48C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8813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DD3DB2BC-D94B-D083-1D93-4D209ECDC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BF4EAA6F-F2D6-A0A6-8419-AC17F0ED4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9ACB7B9-20A6-6E02-6D38-870A2929A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E5981661-AE7D-6E14-22D9-F531B548B8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6433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61A013D-FF23-6308-A7EB-0AA4314A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5D8C94D6-C6B5-DF14-B4A6-90962F0662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E6EFAC4F-A3F5-309E-E353-4BED73D806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94A10C3E-AA85-A101-D3E2-F7024118FCD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569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44C2645-E4DE-6BA5-EC67-9F96EF23D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05E24146-A980-4263-F23A-0D2DC72B8C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5AAFE962-3DCB-EF92-07AF-2C44C5C0E9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9EE4E513-A409-3BD5-1200-14208A42210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0283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C9B404FC-7281-D86F-27E8-BFE74AD8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>
            <a:extLst>
              <a:ext uri="{FF2B5EF4-FFF2-40B4-BE49-F238E27FC236}">
                <a16:creationId xmlns:a16="http://schemas.microsoft.com/office/drawing/2014/main" id="{2D7753CD-A172-6A2A-338C-722C15F93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3:notes">
            <a:extLst>
              <a:ext uri="{FF2B5EF4-FFF2-40B4-BE49-F238E27FC236}">
                <a16:creationId xmlns:a16="http://schemas.microsoft.com/office/drawing/2014/main" id="{4EAF9222-7C98-57C4-221F-52AE181CD2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>
            <a:extLst>
              <a:ext uri="{FF2B5EF4-FFF2-40B4-BE49-F238E27FC236}">
                <a16:creationId xmlns:a16="http://schemas.microsoft.com/office/drawing/2014/main" id="{ACB05E0D-FD5C-DA13-BC29-FB2ADD6694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78351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6" name="Google Shape;37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1">
  <p:cSld name="Título 1">
    <p:bg>
      <p:bgPr>
        <a:solidFill>
          <a:schemeClr val="l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2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" name="Google Shape;16;p22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7" name="Google Shape;17;p22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8" name="Google Shape;18;p22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9" name="Google Shape;19;p22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20" name="Google Shape;20;p22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ois Conteúdos">
  <p:cSld name="Título e Dois Conteúdos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24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5" name="Google Shape;35;p24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6" name="Google Shape;36;p24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7" name="Google Shape;37;p24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38" name="Google Shape;38;p24"/>
          <p:cNvSpPr txBox="1"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" name="Google Shape;39;p24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0" name="Google Shape;40;p24"/>
          <p:cNvSpPr txBox="1">
            <a:spLocks noGrp="1"/>
          </p:cNvSpPr>
          <p:nvPr>
            <p:ph type="body" idx="1"/>
          </p:nvPr>
        </p:nvSpPr>
        <p:spPr>
          <a:xfrm>
            <a:off x="595523" y="2676525"/>
            <a:ext cx="574675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4"/>
          <p:cNvSpPr txBox="1">
            <a:spLocks noGrp="1"/>
          </p:cNvSpPr>
          <p:nvPr>
            <p:ph type="body" idx="2"/>
          </p:nvPr>
        </p:nvSpPr>
        <p:spPr>
          <a:xfrm>
            <a:off x="7620000" y="2676525"/>
            <a:ext cx="3947160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3">
  <p:cSld name="Título 3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6" name="Google Shape;46;p25"/>
          <p:cNvGrpSpPr/>
          <p:nvPr/>
        </p:nvGrpSpPr>
        <p:grpSpPr>
          <a:xfrm rot="10800000">
            <a:off x="6092752" y="0"/>
            <a:ext cx="6099248" cy="6099248"/>
            <a:chOff x="0" y="12289"/>
            <a:chExt cx="3550" cy="3551"/>
          </a:xfrm>
        </p:grpSpPr>
        <p:sp>
          <p:nvSpPr>
            <p:cNvPr id="47" name="Google Shape;47;p25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8" name="Google Shape;48;p25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9" name="Google Shape;49;p25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50" name="Google Shape;50;p25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51" name="Google Shape;51;p25"/>
          <p:cNvCxnSpPr/>
          <p:nvPr/>
        </p:nvCxnSpPr>
        <p:spPr>
          <a:xfrm>
            <a:off x="594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da seção">
  <p:cSld name="Título da seção">
    <p:bg>
      <p:bgPr>
        <a:solidFill>
          <a:schemeClr val="accent3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80543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6"/>
          <p:cNvSpPr txBox="1">
            <a:spLocks noGrp="1"/>
          </p:cNvSpPr>
          <p:nvPr>
            <p:ph type="title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ranklin Gothic"/>
              <a:buNone/>
              <a:defRPr sz="6000" b="1" i="0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6"/>
          <p:cNvSpPr/>
          <p:nvPr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7104">
          <p15:clr>
            <a:srgbClr val="FBAE40"/>
          </p15:clr>
        </p15:guide>
        <p15:guide id="2" pos="4344">
          <p15:clr>
            <a:srgbClr val="FBAE40"/>
          </p15:clr>
        </p15:guide>
        <p15:guide id="3" pos="4560">
          <p15:clr>
            <a:srgbClr val="FBAE40"/>
          </p15:clr>
        </p15:guide>
        <p15:guide id="4" orient="horz" pos="184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2">
  <p:cSld name="Título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7"/>
          <p:cNvSpPr txBox="1">
            <a:spLocks noGrp="1"/>
          </p:cNvSpPr>
          <p:nvPr>
            <p:ph type="ctrTitle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7"/>
          <p:cNvSpPr>
            <a:spLocks noGrp="1"/>
          </p:cNvSpPr>
          <p:nvPr>
            <p:ph type="pic" idx="2"/>
          </p:nvPr>
        </p:nvSpPr>
        <p:spPr>
          <a:xfrm>
            <a:off x="0" y="-11113"/>
            <a:ext cx="5791200" cy="6880226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6299835" y="456860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0" name="Google Shape;60;p27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sumo 2">
  <p:cSld name="Resumo 2">
    <p:bg>
      <p:bgPr>
        <a:solidFill>
          <a:schemeClr val="lt1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28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3" name="Google Shape;63;p28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64" name="Google Shape;64;p28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5" name="Google Shape;65;p28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66" name="Google Shape;66;p28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67" name="Google Shape;67;p28"/>
          <p:cNvSpPr txBox="1"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3657600" y="2282008"/>
            <a:ext cx="7810500" cy="3699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">
  <p:cSld name="Título">
    <p:bg>
      <p:bgPr>
        <a:solidFill>
          <a:schemeClr val="lt1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9"/>
          <p:cNvSpPr txBox="1"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  <a:defRPr sz="60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3" name="Google Shape;73;p29"/>
          <p:cNvGrpSpPr/>
          <p:nvPr/>
        </p:nvGrpSpPr>
        <p:grpSpPr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74" name="Google Shape;74;p29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5" name="Google Shape;75;p29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76" name="Google Shape;76;p29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cxnSp>
        <p:nvCxnSpPr>
          <p:cNvPr id="77" name="Google Shape;77;p29"/>
          <p:cNvCxnSpPr/>
          <p:nvPr/>
        </p:nvCxnSpPr>
        <p:spPr>
          <a:xfrm>
            <a:off x="6309360" y="3950208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29"/>
          <p:cNvSpPr txBox="1">
            <a:spLocks noGrp="1"/>
          </p:cNvSpPr>
          <p:nvPr>
            <p:ph type="body" idx="1"/>
          </p:nvPr>
        </p:nvSpPr>
        <p:spPr>
          <a:xfrm>
            <a:off x="6309905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7C3F"/>
              </a:buClr>
              <a:buSzPts val="2400"/>
              <a:buNone/>
              <a:defRPr sz="2400" b="1" i="0">
                <a:solidFill>
                  <a:srgbClr val="5D7C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Dois Conteúdos 2">
  <p:cSld name="Título e Dois Conteúdos 2">
    <p:bg>
      <p:bgPr>
        <a:solidFill>
          <a:schemeClr val="lt1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30"/>
          <p:cNvGrpSpPr/>
          <p:nvPr/>
        </p:nvGrpSpPr>
        <p:grpSpPr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81" name="Google Shape;81;p30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83" name="Google Shape;83;p30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84" name="Google Shape;84;p30"/>
          <p:cNvSpPr txBox="1"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0"/>
          <p:cNvSpPr txBox="1">
            <a:spLocks noGrp="1"/>
          </p:cNvSpPr>
          <p:nvPr>
            <p:ph type="body" idx="1"/>
          </p:nvPr>
        </p:nvSpPr>
        <p:spPr>
          <a:xfrm>
            <a:off x="594360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30"/>
          <p:cNvSpPr txBox="1">
            <a:spLocks noGrp="1"/>
          </p:cNvSpPr>
          <p:nvPr>
            <p:ph type="body" idx="2"/>
          </p:nvPr>
        </p:nvSpPr>
        <p:spPr>
          <a:xfrm>
            <a:off x="5881898" y="2676525"/>
            <a:ext cx="4490827" cy="359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0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8" name="Google Shape;88;p30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89" name="Google Shape;89;p30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 ">
  <p:cSld name="Título e Conteúdo 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Google Shape;91;p31"/>
          <p:cNvGrpSpPr/>
          <p:nvPr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92" name="Google Shape;92;p31"/>
            <p:cNvSpPr/>
            <p:nvPr/>
          </p:nvSpPr>
          <p:spPr>
            <a:xfrm>
              <a:off x="5612972" y="1"/>
              <a:ext cx="4408998" cy="3672246"/>
            </a:xfrm>
            <a:custGeom>
              <a:avLst/>
              <a:gdLst/>
              <a:ahLst/>
              <a:cxnLst/>
              <a:rect l="l" t="t" r="r" b="b"/>
              <a:pathLst>
                <a:path w="3578" h="2980" extrusionOk="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3" name="Google Shape;93;p31"/>
            <p:cNvSpPr/>
            <p:nvPr/>
          </p:nvSpPr>
          <p:spPr>
            <a:xfrm>
              <a:off x="6341233" y="1463970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4" name="Google Shape;94;p31"/>
            <p:cNvSpPr/>
            <p:nvPr/>
          </p:nvSpPr>
          <p:spPr>
            <a:xfrm>
              <a:off x="8555590" y="1"/>
              <a:ext cx="1457754" cy="729520"/>
            </a:xfrm>
            <a:custGeom>
              <a:avLst/>
              <a:gdLst/>
              <a:ahLst/>
              <a:cxnLst/>
              <a:rect l="l" t="t" r="r" b="b"/>
              <a:pathLst>
                <a:path w="1183" h="592" extrusionOk="0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5" name="Google Shape;95;p31"/>
            <p:cNvSpPr/>
            <p:nvPr/>
          </p:nvSpPr>
          <p:spPr>
            <a:xfrm>
              <a:off x="7076887" y="728289"/>
              <a:ext cx="2208196" cy="2208277"/>
            </a:xfrm>
            <a:custGeom>
              <a:avLst/>
              <a:gdLst/>
              <a:ahLst/>
              <a:cxnLst/>
              <a:rect l="l" t="t" r="r" b="b"/>
              <a:pathLst>
                <a:path w="1792" h="1792" extrusionOk="0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96" name="Google Shape;96;p31"/>
            <p:cNvSpPr/>
            <p:nvPr/>
          </p:nvSpPr>
          <p:spPr>
            <a:xfrm>
              <a:off x="9285083" y="728289"/>
              <a:ext cx="2943850" cy="2943958"/>
            </a:xfrm>
            <a:custGeom>
              <a:avLst/>
              <a:gdLst/>
              <a:ahLst/>
              <a:cxnLst/>
              <a:rect l="l" t="t" r="r" b="b"/>
              <a:pathLst>
                <a:path w="2389" h="2389" extrusionOk="0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97" name="Google Shape;97;p31"/>
          <p:cNvSpPr txBox="1">
            <a:spLocks noGrp="1"/>
          </p:cNvSpPr>
          <p:nvPr>
            <p:ph type="title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98" name="Google Shape;98;p31"/>
          <p:cNvCxnSpPr/>
          <p:nvPr/>
        </p:nvCxnSpPr>
        <p:spPr>
          <a:xfrm>
            <a:off x="6347460" y="631317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9" name="Google Shape;99;p31"/>
          <p:cNvSpPr txBox="1">
            <a:spLocks noGrp="1"/>
          </p:cNvSpPr>
          <p:nvPr>
            <p:ph type="body" idx="1"/>
          </p:nvPr>
        </p:nvSpPr>
        <p:spPr>
          <a:xfrm>
            <a:off x="603885" y="457201"/>
            <a:ext cx="5198269" cy="2305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lphaLcPeriod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arenR"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None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Franklin Gothic"/>
              <a:buAutoNum type="arabicPeriod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31"/>
          <p:cNvSpPr txBox="1">
            <a:spLocks noGrp="1"/>
          </p:cNvSpPr>
          <p:nvPr>
            <p:ph type="body" idx="2"/>
          </p:nvPr>
        </p:nvSpPr>
        <p:spPr>
          <a:xfrm>
            <a:off x="594360" y="2810595"/>
            <a:ext cx="5198269" cy="3319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3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2" name="Google Shape;102;p3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e imagem do título">
  <p:cSld name="Conteúdo e imagem do título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2"/>
          <p:cNvSpPr txBox="1">
            <a:spLocks noGrp="1"/>
          </p:cNvSpPr>
          <p:nvPr>
            <p:ph type="title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body" idx="1"/>
          </p:nvPr>
        </p:nvSpPr>
        <p:spPr>
          <a:xfrm>
            <a:off x="594360" y="3279579"/>
            <a:ext cx="5044440" cy="2994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8600" rIns="0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06" name="Google Shape;106;p32"/>
          <p:cNvCxnSpPr/>
          <p:nvPr/>
        </p:nvCxnSpPr>
        <p:spPr>
          <a:xfrm>
            <a:off x="594360" y="2997459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" name="Google Shape;107;p32"/>
          <p:cNvSpPr>
            <a:spLocks noGrp="1"/>
          </p:cNvSpPr>
          <p:nvPr>
            <p:ph type="pic" idx="2"/>
          </p:nvPr>
        </p:nvSpPr>
        <p:spPr>
          <a:xfrm>
            <a:off x="6096000" y="0"/>
            <a:ext cx="6118225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32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09" name="Google Shape;109;p32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e tabela do título">
  <p:cSld name="Conteúdo e tabela do título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33"/>
          <p:cNvGrpSpPr/>
          <p:nvPr/>
        </p:nvGrpSpPr>
        <p:grpSpPr>
          <a:xfrm rot="5400000" flipH="1">
            <a:off x="0" y="3900132"/>
            <a:ext cx="2959226" cy="2959226"/>
            <a:chOff x="0" y="12289"/>
            <a:chExt cx="3550" cy="3551"/>
          </a:xfrm>
        </p:grpSpPr>
        <p:sp>
          <p:nvSpPr>
            <p:cNvPr id="112" name="Google Shape;112;p33"/>
            <p:cNvSpPr/>
            <p:nvPr/>
          </p:nvSpPr>
          <p:spPr>
            <a:xfrm>
              <a:off x="0" y="12289"/>
              <a:ext cx="1789" cy="2386"/>
            </a:xfrm>
            <a:custGeom>
              <a:avLst/>
              <a:gdLst/>
              <a:ahLst/>
              <a:cxnLst/>
              <a:rect l="l" t="t" r="r" b="b"/>
              <a:pathLst>
                <a:path w="1789" h="2386" extrusionOk="0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3" name="Google Shape;113;p33"/>
            <p:cNvSpPr/>
            <p:nvPr/>
          </p:nvSpPr>
          <p:spPr>
            <a:xfrm>
              <a:off x="0" y="14678"/>
              <a:ext cx="1162" cy="1162"/>
            </a:xfrm>
            <a:custGeom>
              <a:avLst/>
              <a:gdLst/>
              <a:ahLst/>
              <a:cxnLst/>
              <a:rect l="l" t="t" r="r" b="b"/>
              <a:pathLst>
                <a:path w="1162" h="1162" extrusionOk="0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114" name="Google Shape;114;p33"/>
            <p:cNvSpPr/>
            <p:nvPr/>
          </p:nvSpPr>
          <p:spPr>
            <a:xfrm>
              <a:off x="1221" y="14675"/>
              <a:ext cx="2329" cy="1165"/>
            </a:xfrm>
            <a:custGeom>
              <a:avLst/>
              <a:gdLst/>
              <a:ahLst/>
              <a:cxnLst/>
              <a:rect l="l" t="t" r="r" b="b"/>
              <a:pathLst>
                <a:path w="2329" h="1165" extrusionOk="0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115" name="Google Shape;115;p33"/>
          <p:cNvSpPr txBox="1">
            <a:spLocks noGrp="1"/>
          </p:cNvSpPr>
          <p:nvPr>
            <p:ph type="title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33"/>
          <p:cNvCxnSpPr/>
          <p:nvPr/>
        </p:nvCxnSpPr>
        <p:spPr>
          <a:xfrm>
            <a:off x="3670935" y="631317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33"/>
          <p:cNvSpPr txBox="1">
            <a:spLocks noGrp="1"/>
          </p:cNvSpPr>
          <p:nvPr>
            <p:ph type="body" idx="1"/>
          </p:nvPr>
        </p:nvSpPr>
        <p:spPr>
          <a:xfrm>
            <a:off x="603885" y="584005"/>
            <a:ext cx="282511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43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marL="1371600" lvl="2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marL="1828800" lvl="3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marL="2286000" lvl="4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body" idx="2"/>
          </p:nvPr>
        </p:nvSpPr>
        <p:spPr>
          <a:xfrm>
            <a:off x="3670934" y="584005"/>
            <a:ext cx="7926705" cy="3999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marL="91440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marL="1371600" lvl="2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33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0" name="Google Shape;120;p33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ela 2">
  <p:cSld name="Tabela 2">
    <p:bg>
      <p:bgPr>
        <a:solidFill>
          <a:schemeClr val="lt1"/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4"/>
          <p:cNvSpPr txBox="1">
            <a:spLocks noGrp="1"/>
          </p:cNvSpPr>
          <p:nvPr>
            <p:ph type="title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34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>
              <a:spcBef>
                <a:spcPts val="0"/>
              </a:spcBef>
              <a:buNone/>
              <a:defRPr sz="1100" b="1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4" name="Google Shape;124;p34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5" name="Google Shape;125;p34"/>
          <p:cNvCxnSpPr/>
          <p:nvPr/>
        </p:nvCxnSpPr>
        <p:spPr>
          <a:xfrm>
            <a:off x="594360" y="2148840"/>
            <a:ext cx="2133600" cy="3992"/>
          </a:xfrm>
          <a:prstGeom prst="straightConnector1">
            <a:avLst/>
          </a:prstGeom>
          <a:noFill/>
          <a:ln w="101600" cap="flat" cmpd="sng">
            <a:solidFill>
              <a:srgbClr val="5D7C3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9" orient="horz" pos="5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dt" idx="10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endParaRPr/>
          </a:p>
        </p:txBody>
      </p:sp>
      <p:sp>
        <p:nvSpPr>
          <p:cNvPr id="13" name="Google Shape;13;p21"/>
          <p:cNvSpPr txBox="1">
            <a:spLocks noGrp="1"/>
          </p:cNvSpPr>
          <p:nvPr>
            <p:ph type="sldNum" idx="12"/>
          </p:nvPr>
        </p:nvSpPr>
        <p:spPr>
          <a:xfrm>
            <a:off x="59436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0" marR="0" lvl="1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0" marR="0" lvl="2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0" marR="0" lvl="3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0" marR="0" lvl="4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0" marR="0" lvl="5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0" marR="0" lvl="6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0" marR="0" lvl="7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0" marR="0" lvl="8" indent="0" algn="l" rtl="0">
              <a:spcBef>
                <a:spcPts val="0"/>
              </a:spcBef>
              <a:buNone/>
              <a:defRPr sz="11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"/>
          <p:cNvSpPr txBox="1">
            <a:spLocks noGrp="1"/>
          </p:cNvSpPr>
          <p:nvPr>
            <p:ph type="ctrTitle"/>
          </p:nvPr>
        </p:nvSpPr>
        <p:spPr>
          <a:xfrm>
            <a:off x="6564735" y="1905249"/>
            <a:ext cx="5295169" cy="1690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Franklin Gothic"/>
              <a:buNone/>
            </a:pPr>
            <a:r>
              <a:rPr lang="pt-BR" sz="3200" b="1" i="0" u="none" strike="noStrike" cap="none" dirty="0">
                <a:solidFill>
                  <a:schemeClr val="dk1"/>
                </a:solidFill>
                <a:latin typeface="Libre Franklin" pitchFamily="2" charset="0"/>
                <a:sym typeface="Franklin Gothic"/>
              </a:rPr>
              <a:t>Design Centrado no Ser Humano: </a:t>
            </a:r>
            <a:r>
              <a:rPr lang="pt-BR" sz="2800" b="1" i="0" u="none" strike="noStrike" cap="none" dirty="0">
                <a:solidFill>
                  <a:srgbClr val="0070C0"/>
                </a:solidFill>
                <a:latin typeface="Libre Franklin" pitchFamily="2" charset="0"/>
                <a:sym typeface="Franklin Gothic"/>
              </a:rPr>
              <a:t>A importância das Cores</a:t>
            </a:r>
            <a:endParaRPr sz="2800" dirty="0">
              <a:solidFill>
                <a:srgbClr val="0070C0"/>
              </a:solidFill>
              <a:latin typeface="Libre Franklin" pitchFamily="2" charset="0"/>
            </a:endParaRPr>
          </a:p>
        </p:txBody>
      </p:sp>
      <p:pic>
        <p:nvPicPr>
          <p:cNvPr id="132" name="Google Shape;132;p1" descr="Comunicado | UNINASSAU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38273" y="2160743"/>
            <a:ext cx="3464841" cy="1357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 txBox="1"/>
          <p:nvPr/>
        </p:nvSpPr>
        <p:spPr>
          <a:xfrm>
            <a:off x="6303114" y="4169744"/>
            <a:ext cx="50495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Prof. </a:t>
            </a:r>
            <a:r>
              <a:rPr lang="pt-BR" sz="18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MSc</a:t>
            </a:r>
            <a:r>
              <a:rPr lang="pt-BR" sz="1800" b="1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800" b="0" i="0" u="none" strike="noStrike" cap="none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 S. Junior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B2A8EA37-4D59-9BB5-3B26-CBE836C8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9965CEF7-2B9F-EE61-05A1-C13BC4DE10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dirty="0">
                <a:solidFill>
                  <a:schemeClr val="accent4">
                    <a:lumMod val="75000"/>
                  </a:schemeClr>
                </a:solidFill>
              </a:rPr>
              <a:t>ARTIGO 01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Influência das Cores na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 de Interfaces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03F21AB2-5A8E-5FC5-585A-1F45342224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A95A569A-EE9B-4ABC-A31F-49FD002BF41D}"/>
              </a:ext>
            </a:extLst>
          </p:cNvPr>
          <p:cNvSpPr txBox="1"/>
          <p:nvPr/>
        </p:nvSpPr>
        <p:spPr>
          <a:xfrm>
            <a:off x="594360" y="2547633"/>
            <a:ext cx="100336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as cores impactam a usabilidade de interfaces digitais, considerando o comportamento cultural do usuário.</a:t>
            </a:r>
            <a:endParaRPr lang="pt-BR" sz="2400" dirty="0"/>
          </a:p>
        </p:txBody>
      </p:sp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3318E100-AE7A-19C2-389E-5DA886A65A16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3F60676-336C-7994-18D9-D350975AAE67}"/>
              </a:ext>
            </a:extLst>
          </p:cNvPr>
          <p:cNvSpPr txBox="1"/>
          <p:nvPr/>
        </p:nvSpPr>
        <p:spPr>
          <a:xfrm>
            <a:off x="594360" y="3479412"/>
            <a:ext cx="10033666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r>
              <a:rPr lang="pt-BR" b="1" dirty="0"/>
              <a:t>Design Centrado no Usuário (DCU):</a:t>
            </a:r>
            <a:r>
              <a:rPr lang="pt-BR" dirty="0"/>
              <a:t> Foco nas necessidades, habilidades e contexto cultural do usuário com objetivo de criar experiências intuitivas e prazerosas.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737DA0-2072-027D-0AA4-524C5F064BDB}"/>
              </a:ext>
            </a:extLst>
          </p:cNvPr>
          <p:cNvSpPr txBox="1"/>
          <p:nvPr/>
        </p:nvSpPr>
        <p:spPr>
          <a:xfrm>
            <a:off x="594360" y="4869482"/>
            <a:ext cx="10033666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r>
              <a:rPr lang="pt-BR" b="1" dirty="0"/>
              <a:t>Interação Humano-Computador (IHC):</a:t>
            </a:r>
            <a:r>
              <a:rPr lang="pt-BR" dirty="0"/>
              <a:t> Orientações como feedback, visibilidade e capacidade de uma interface ser usado de acordo com a sua função, sem a necessidade de explicação prévia. Ressalta a importância da ergonomia cognitiva e emocional.</a:t>
            </a:r>
          </a:p>
        </p:txBody>
      </p:sp>
    </p:spTree>
    <p:extLst>
      <p:ext uri="{BB962C8B-B14F-4D97-AF65-F5344CB8AC3E}">
        <p14:creationId xmlns:p14="http://schemas.microsoft.com/office/powerpoint/2010/main" val="1720107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6D0793D-BFAB-34AD-54E6-ACD19EE67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19F0F294-A4A4-DD9C-22C4-EA520040B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chemeClr val="accent4">
                    <a:lumMod val="75000"/>
                  </a:schemeClr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ARTIGO 01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Influência das Cores na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 de Interfaces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35278CE7-C476-8694-4AB4-417E968091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D2D5D5B5-EF80-958E-5E28-1A7BBBD76602}"/>
              </a:ext>
            </a:extLst>
          </p:cNvPr>
          <p:cNvSpPr txBox="1"/>
          <p:nvPr/>
        </p:nvSpPr>
        <p:spPr>
          <a:xfrm>
            <a:off x="6400801" y="2386353"/>
            <a:ext cx="5166360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USABILIDADE:</a:t>
            </a:r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Definição pela 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 9241-11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eficácia, eficiência e satisfação.</a:t>
            </a:r>
          </a:p>
          <a:p>
            <a:pPr marL="342900" marR="0" lvl="0" indent="-342900" algn="just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just" rtl="0">
              <a:spcBef>
                <a:spcPts val="0"/>
              </a:spcBef>
              <a:spcAft>
                <a:spcPts val="0"/>
              </a:spcAft>
            </a:pP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</a:t>
            </a:r>
            <a:r>
              <a:rPr lang="pt-B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Heurísticas de Nielse</a:t>
            </a:r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 (ex.: feedback imediato, prevenção de erros, consistência).</a:t>
            </a:r>
          </a:p>
        </p:txBody>
      </p:sp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992D7B18-975E-C571-E6AF-27454628401A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8C2F0F6-CCF0-92D2-6B02-1C2452FC454C}"/>
              </a:ext>
            </a:extLst>
          </p:cNvPr>
          <p:cNvSpPr txBox="1"/>
          <p:nvPr/>
        </p:nvSpPr>
        <p:spPr>
          <a:xfrm>
            <a:off x="594360" y="2386353"/>
            <a:ext cx="54864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 b="1">
                <a:solidFill>
                  <a:schemeClr val="dk1"/>
                </a:solidFill>
              </a:defRPr>
            </a:lvl1pPr>
          </a:lstStyle>
          <a:p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CARACTERÍSTICAS DAS CORES:</a:t>
            </a:r>
          </a:p>
          <a:p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Contraste: </a:t>
            </a:r>
          </a:p>
          <a:p>
            <a:endParaRPr lang="pt-BR" sz="2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Fundamental para destacar elementos (ex.: texto preto em fundo branco).</a:t>
            </a:r>
          </a:p>
          <a:p>
            <a:endParaRPr lang="pt-BR" sz="2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Percepção Cultural:</a:t>
            </a:r>
          </a:p>
          <a:p>
            <a:endParaRPr lang="pt-BR" sz="2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Necessidade de adaptar paletas conforme o público-alvo. Cores influenciam decisões de design em interfaces globais. Cores como vermelho (perigo no Ocidente vs. sorte na Ásia).</a:t>
            </a:r>
          </a:p>
          <a:p>
            <a:endParaRPr lang="pt-BR" sz="2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716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1136BB98-D684-F9BE-AA75-2565D8F2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F58FD006-10EC-3579-3829-ADEA9AD9A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dirty="0">
                <a:solidFill>
                  <a:schemeClr val="accent4">
                    <a:lumMod val="75000"/>
                  </a:schemeClr>
                </a:solidFill>
              </a:rPr>
              <a:t>ARTIGO 01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Influência das Cores na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 de Interfaces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B71D38C2-DABE-32C4-8D4E-6BC5BBD62CD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43525021-7150-CBAC-E1F5-3B712CC2791B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5FFD459-D32B-CA89-02F9-11322719DCCB}"/>
              </a:ext>
            </a:extLst>
          </p:cNvPr>
          <p:cNvSpPr txBox="1"/>
          <p:nvPr/>
        </p:nvSpPr>
        <p:spPr>
          <a:xfrm>
            <a:off x="594359" y="2386353"/>
            <a:ext cx="99587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 b="1">
                <a:solidFill>
                  <a:schemeClr val="dk1"/>
                </a:solidFill>
              </a:defRPr>
            </a:lvl1pPr>
          </a:lstStyle>
          <a:p>
            <a:r>
              <a:rPr lang="pt-BR" sz="1800" dirty="0"/>
              <a:t>CARACTERÍSTICAS DAS CORES </a:t>
            </a:r>
            <a:r>
              <a:rPr lang="pt-BR" sz="1800" dirty="0">
                <a:solidFill>
                  <a:srgbClr val="0070C0"/>
                </a:solidFill>
              </a:rPr>
              <a:t>CONTRASTE</a:t>
            </a:r>
            <a:r>
              <a:rPr lang="pt-BR" sz="1800" dirty="0"/>
              <a:t>: </a:t>
            </a:r>
          </a:p>
        </p:txBody>
      </p:sp>
      <p:pic>
        <p:nvPicPr>
          <p:cNvPr id="1026" name="Picture 2" descr="Paleta de Cores e UI design. Uma introdução a paleta de cores… | by luiz  henrique | Apple Developer Academy | Mackenzie | Medium">
            <a:extLst>
              <a:ext uri="{FF2B5EF4-FFF2-40B4-BE49-F238E27FC236}">
                <a16:creationId xmlns:a16="http://schemas.microsoft.com/office/drawing/2014/main" id="{8B273D5F-F12E-C77C-14EB-A91C5F3E3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34" y="2875611"/>
            <a:ext cx="10283252" cy="2933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343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EA79C4-E266-EE01-456A-8FAF47596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3AC44DC2-A57A-A671-26ED-C10A1722C8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dirty="0">
                <a:solidFill>
                  <a:schemeClr val="accent4">
                    <a:lumMod val="75000"/>
                  </a:schemeClr>
                </a:solidFill>
              </a:rPr>
              <a:t>ARTIGO 01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Influência das Cores na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 de Interfaces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7C366016-E0F8-7B04-3176-EEF8263DF6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F6C06739-73A2-AE57-7363-4A39659D2FCB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7A6F86D-D6EF-FAB8-D2F9-B9E8AB4B63A9}"/>
              </a:ext>
            </a:extLst>
          </p:cNvPr>
          <p:cNvSpPr txBox="1"/>
          <p:nvPr/>
        </p:nvSpPr>
        <p:spPr>
          <a:xfrm>
            <a:off x="594359" y="2386353"/>
            <a:ext cx="99587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 b="1">
                <a:solidFill>
                  <a:schemeClr val="dk1"/>
                </a:solidFill>
              </a:defRPr>
            </a:lvl1pPr>
          </a:lstStyle>
          <a:p>
            <a:r>
              <a:rPr lang="pt-BR" sz="1800" dirty="0"/>
              <a:t>CARACTERÍSTICAS DAS CORES </a:t>
            </a:r>
            <a:r>
              <a:rPr lang="pt-BR" sz="1800" dirty="0">
                <a:solidFill>
                  <a:srgbClr val="0070C0"/>
                </a:solidFill>
              </a:rPr>
              <a:t>CONTRASTE</a:t>
            </a:r>
            <a:r>
              <a:rPr lang="pt-BR" sz="1800" dirty="0"/>
              <a:t>: </a:t>
            </a:r>
          </a:p>
        </p:txBody>
      </p:sp>
      <p:pic>
        <p:nvPicPr>
          <p:cNvPr id="2050" name="Picture 2" descr="Dicas de UX/UI para interfaces mais acessíveis | by Mayara Pillegi | UX  Collective 🇧🇷">
            <a:extLst>
              <a:ext uri="{FF2B5EF4-FFF2-40B4-BE49-F238E27FC236}">
                <a16:creationId xmlns:a16="http://schemas.microsoft.com/office/drawing/2014/main" id="{595221D1-1F7B-CEE6-0C6F-020F603EC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10" y="2903109"/>
            <a:ext cx="9175780" cy="287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3890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C2676A4-DF02-F56F-53EA-49C37F52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CA3D2113-D494-20AB-5F26-FE63B21EE1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dirty="0">
                <a:solidFill>
                  <a:schemeClr val="accent4">
                    <a:lumMod val="75000"/>
                  </a:schemeClr>
                </a:solidFill>
              </a:rPr>
              <a:t>ARTIGO 01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Influência das Cores na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 de Interfaces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AE532884-795A-A404-2DDB-656B2FAE32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3DAD1D32-75A0-811A-A55D-D75E6768916A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89BC75-AF98-5E8D-5A02-34DA7901C1C6}"/>
              </a:ext>
            </a:extLst>
          </p:cNvPr>
          <p:cNvSpPr txBox="1"/>
          <p:nvPr/>
        </p:nvSpPr>
        <p:spPr>
          <a:xfrm>
            <a:off x="594359" y="2386353"/>
            <a:ext cx="99587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 b="1">
                <a:solidFill>
                  <a:schemeClr val="dk1"/>
                </a:solidFill>
              </a:defRPr>
            </a:lvl1pPr>
          </a:lstStyle>
          <a:p>
            <a:r>
              <a:rPr lang="pt-BR" sz="1800" dirty="0"/>
              <a:t>CARACTERÍSTICAS DAS CORES </a:t>
            </a:r>
            <a:r>
              <a:rPr lang="pt-BR" sz="1800" dirty="0">
                <a:solidFill>
                  <a:srgbClr val="0070C0"/>
                </a:solidFill>
              </a:rPr>
              <a:t>CONTRASTE</a:t>
            </a:r>
            <a:r>
              <a:rPr lang="pt-BR" sz="1800" dirty="0"/>
              <a:t>: </a:t>
            </a:r>
          </a:p>
        </p:txBody>
      </p:sp>
      <p:pic>
        <p:nvPicPr>
          <p:cNvPr id="3074" name="Picture 2" descr="3 colunas de texto sobre fundo com a relação de contraste Fundo roxo mais escuro com texto branco numa relação de contraste 7:1. Fundo roxo médico com texto branco numa relação de contraste 4,5:1. Fundo roxo claro com texto branco numa relação de contraste 3:1.">
            <a:extLst>
              <a:ext uri="{FF2B5EF4-FFF2-40B4-BE49-F238E27FC236}">
                <a16:creationId xmlns:a16="http://schemas.microsoft.com/office/drawing/2014/main" id="{4EB06317-2923-ACF9-DD7C-737FF999E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4" y="3343309"/>
            <a:ext cx="6411985" cy="26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3 níveis de título: H1: Roboto Black 26pt, entrelinha 32pt; H2 Roboto Bold 22pt, entrelinha 28pt; H3 Roboto Bold 18pt, entrelinha 24pt.">
            <a:extLst>
              <a:ext uri="{FF2B5EF4-FFF2-40B4-BE49-F238E27FC236}">
                <a16:creationId xmlns:a16="http://schemas.microsoft.com/office/drawing/2014/main" id="{96D29BEE-7142-BD56-AE5A-39DEC3D48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7045" y="3343309"/>
            <a:ext cx="5739985" cy="262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2434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A4C9F487-DC97-73E0-BE5A-13CBF95A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C1CD2AA0-B8F2-000D-53C6-D647DB2CD1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dirty="0">
                <a:solidFill>
                  <a:schemeClr val="accent4">
                    <a:lumMod val="75000"/>
                  </a:schemeClr>
                </a:solidFill>
              </a:rPr>
              <a:t>ARTIGO 01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Influência das Cores na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Usabilidade de Interfaces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5C141901-51C1-2EC3-6791-81593AD6A2A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73B4E23E-9F60-928E-D819-05C75101B878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E7DB80F-5FC7-9250-3E41-79C558706662}"/>
              </a:ext>
            </a:extLst>
          </p:cNvPr>
          <p:cNvSpPr txBox="1"/>
          <p:nvPr/>
        </p:nvSpPr>
        <p:spPr>
          <a:xfrm>
            <a:off x="594359" y="2386353"/>
            <a:ext cx="9958715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 b="1">
                <a:solidFill>
                  <a:schemeClr val="dk1"/>
                </a:solidFill>
              </a:defRPr>
            </a:lvl1pPr>
          </a:lstStyle>
          <a:p>
            <a:r>
              <a:rPr lang="pt-BR" sz="1800" dirty="0"/>
              <a:t>CARACTERÍSTICAS DAS CORES </a:t>
            </a:r>
            <a:r>
              <a:rPr lang="pt-BR" sz="1800" dirty="0">
                <a:solidFill>
                  <a:srgbClr val="FF0000"/>
                </a:solidFill>
              </a:rPr>
              <a:t>CULTURA</a:t>
            </a:r>
            <a:r>
              <a:rPr lang="pt-BR" sz="1800" dirty="0"/>
              <a:t>: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A8D4F66-FC87-3E50-A5BC-E46A678F4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91" y="2817474"/>
            <a:ext cx="3503300" cy="3824563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6183D26-E923-4286-2930-31604C0B3A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1268983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4471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3CB3946-96CD-CF89-1702-579928410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E978891C-F3FA-DCCE-A65C-B54FF46B9A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0070C0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ARTIGO 02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Importância das Cores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nas Identidades Visuais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CD1C6AC6-2952-EC60-9C2F-E9AC2868B4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">
            <a:extLst>
              <a:ext uri="{FF2B5EF4-FFF2-40B4-BE49-F238E27FC236}">
                <a16:creationId xmlns:a16="http://schemas.microsoft.com/office/drawing/2014/main" id="{58A359E1-A251-C4FF-C64D-E17D621386D9}"/>
              </a:ext>
            </a:extLst>
          </p:cNvPr>
          <p:cNvSpPr txBox="1"/>
          <p:nvPr/>
        </p:nvSpPr>
        <p:spPr>
          <a:xfrm>
            <a:off x="594360" y="2547633"/>
            <a:ext cx="100336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papel estratégico das cores na construção de marcas e sua relação com a psicologia e cultura.</a:t>
            </a:r>
            <a:endParaRPr lang="pt-BR" sz="2400" dirty="0"/>
          </a:p>
        </p:txBody>
      </p:sp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A4DB07A0-C6F3-2974-A2BC-43113007AB3A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C77AF2E-52DC-26BA-3CE5-5CD325CD7339}"/>
              </a:ext>
            </a:extLst>
          </p:cNvPr>
          <p:cNvSpPr txBox="1"/>
          <p:nvPr/>
        </p:nvSpPr>
        <p:spPr>
          <a:xfrm>
            <a:off x="594360" y="3570748"/>
            <a:ext cx="100336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r>
              <a:rPr lang="pt-BR" b="1" dirty="0"/>
              <a:t>Psicologia das Cores:</a:t>
            </a:r>
            <a:r>
              <a:rPr lang="pt-BR" dirty="0"/>
              <a:t> estuda de como o cérebro identifica as cores e como elas afetam as emoções e o comportamento humano.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0AC188-D679-1869-9B29-9D02891DE2F2}"/>
              </a:ext>
            </a:extLst>
          </p:cNvPr>
          <p:cNvSpPr txBox="1"/>
          <p:nvPr/>
        </p:nvSpPr>
        <p:spPr>
          <a:xfrm>
            <a:off x="594360" y="4593863"/>
            <a:ext cx="10033666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r>
              <a:rPr lang="pt-BR" b="1" dirty="0"/>
              <a:t>Percepção Visual:</a:t>
            </a:r>
            <a:r>
              <a:rPr lang="pt-BR" dirty="0"/>
              <a:t> percepção associadas aos sentidos.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B17675E-7855-1630-2558-7C2FC33E8004}"/>
              </a:ext>
            </a:extLst>
          </p:cNvPr>
          <p:cNvSpPr txBox="1"/>
          <p:nvPr/>
        </p:nvSpPr>
        <p:spPr>
          <a:xfrm>
            <a:off x="594360" y="5246652"/>
            <a:ext cx="1003366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just">
              <a:buNone/>
              <a:defRPr sz="2400">
                <a:solidFill>
                  <a:schemeClr val="dk1"/>
                </a:solidFill>
              </a:defRPr>
            </a:lvl1pPr>
          </a:lstStyle>
          <a:p>
            <a:r>
              <a:rPr lang="pt-BR" b="1" dirty="0"/>
              <a:t>Aplicação Prática em Marcas:</a:t>
            </a:r>
            <a:r>
              <a:rPr lang="pt-BR" dirty="0"/>
              <a:t> uso de poucas cores para facilitar memorização, criar identidade e aumentam visibilidade.</a:t>
            </a:r>
          </a:p>
        </p:txBody>
      </p:sp>
    </p:spTree>
    <p:extLst>
      <p:ext uri="{BB962C8B-B14F-4D97-AF65-F5344CB8AC3E}">
        <p14:creationId xmlns:p14="http://schemas.microsoft.com/office/powerpoint/2010/main" val="3689559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94600E2F-BC4F-F990-485A-B73272269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3618B157-78F4-3DAF-DE1B-501D61AF18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ARTIGO 02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Importância das Cores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nas Identidades Visuais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85CA6BBA-93A0-5B58-9F9B-C1A79B34A86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E39D740E-AA34-0063-C6C8-62E1EA263AF2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pic>
        <p:nvPicPr>
          <p:cNvPr id="5122" name="Picture 2" descr="Significado das cores: descubra o que cada uma simboliza - DPopular">
            <a:extLst>
              <a:ext uri="{FF2B5EF4-FFF2-40B4-BE49-F238E27FC236}">
                <a16:creationId xmlns:a16="http://schemas.microsoft.com/office/drawing/2014/main" id="{0959F533-0E47-5BB5-CE1A-3E3CA8B76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8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950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4127BC0F-E903-011B-9272-57B91CD8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sicologia das cores não é o que você esta pensando | by">
            <a:extLst>
              <a:ext uri="{FF2B5EF4-FFF2-40B4-BE49-F238E27FC236}">
                <a16:creationId xmlns:a16="http://schemas.microsoft.com/office/drawing/2014/main" id="{AEB98CF2-FB4C-C190-AF8A-BC34AB8480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62" y="2342756"/>
            <a:ext cx="9110210" cy="4103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Google Shape;148;p3">
            <a:extLst>
              <a:ext uri="{FF2B5EF4-FFF2-40B4-BE49-F238E27FC236}">
                <a16:creationId xmlns:a16="http://schemas.microsoft.com/office/drawing/2014/main" id="{43E21006-5103-1E78-AF03-C5057B17E8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" y="224371"/>
            <a:ext cx="10972800" cy="15743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214A51"/>
              </a:buClr>
              <a:buSzPts val="4000"/>
              <a:buFont typeface="Franklin Gothic"/>
              <a:buNone/>
            </a:pPr>
            <a:r>
              <a:rPr lang="pt-BR" sz="4000" dirty="0">
                <a:solidFill>
                  <a:srgbClr val="0070C0"/>
                </a:solidFill>
              </a:rPr>
              <a:t>ARTIGO 02</a:t>
            </a:r>
            <a:br>
              <a:rPr lang="pt-BR" sz="4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br>
              <a:rPr lang="pt-BR" sz="1000" b="1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A Importância das Cores </a:t>
            </a:r>
            <a:b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</a:br>
            <a:r>
              <a:rPr lang="pt-BR" sz="3600" b="0" i="0" u="none" strike="noStrike" cap="none" dirty="0">
                <a:solidFill>
                  <a:srgbClr val="214A5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nas Identidades Visuais</a:t>
            </a:r>
            <a:endParaRPr sz="3600" b="0" dirty="0"/>
          </a:p>
        </p:txBody>
      </p:sp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13D708C2-A024-AD03-E2CC-6488897D5F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00AC7A34-F19E-4A98-8863-4B1F694EE925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31D655B-31AD-63C8-9B2E-B99ADCF3715E}"/>
              </a:ext>
            </a:extLst>
          </p:cNvPr>
          <p:cNvSpPr txBox="1"/>
          <p:nvPr/>
        </p:nvSpPr>
        <p:spPr>
          <a:xfrm>
            <a:off x="4533603" y="2080741"/>
            <a:ext cx="30943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Percepção Visual</a:t>
            </a:r>
            <a:endParaRPr lang="pt-BR" sz="3200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500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FDC59189-7738-F997-82DD-2812C599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ores: Da Percepção Individual ao Impacto Cultural : Inclusão?">
            <a:extLst>
              <a:ext uri="{FF2B5EF4-FFF2-40B4-BE49-F238E27FC236}">
                <a16:creationId xmlns:a16="http://schemas.microsoft.com/office/drawing/2014/main" id="{44556274-759D-B172-0CA2-4D34F763D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584" y="1"/>
            <a:ext cx="12366058" cy="6333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Google Shape;149;p3" descr="Comunicado | UNINASSAU">
            <a:extLst>
              <a:ext uri="{FF2B5EF4-FFF2-40B4-BE49-F238E27FC236}">
                <a16:creationId xmlns:a16="http://schemas.microsoft.com/office/drawing/2014/main" id="{0DE9E821-60D4-7AAB-4414-0A781E5E9FB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848" y="6131247"/>
            <a:ext cx="1471690" cy="57653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0;p3">
            <a:extLst>
              <a:ext uri="{FF2B5EF4-FFF2-40B4-BE49-F238E27FC236}">
                <a16:creationId xmlns:a16="http://schemas.microsoft.com/office/drawing/2014/main" id="{6B8B69E2-1CFC-3390-7925-D7D3931A5761}"/>
              </a:ext>
            </a:extLst>
          </p:cNvPr>
          <p:cNvSpPr txBox="1"/>
          <p:nvPr/>
        </p:nvSpPr>
        <p:spPr>
          <a:xfrm>
            <a:off x="9958693" y="6333244"/>
            <a:ext cx="223330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</a:t>
            </a:r>
            <a:r>
              <a:rPr lang="pt-BR" sz="1100" dirty="0" err="1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MSc</a:t>
            </a: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. </a:t>
            </a:r>
            <a:r>
              <a:rPr lang="pt-BR" sz="1100" i="1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 Monteiro</a:t>
            </a:r>
            <a:b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</a:br>
            <a:r>
              <a:rPr lang="pt-BR" sz="1100" dirty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2360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8F7C59C0-5964-D8C6-FA87-F267690C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 descr="Como a paleta de cores impacta nas suas vendas - Cria UFMG">
            <a:extLst>
              <a:ext uri="{FF2B5EF4-FFF2-40B4-BE49-F238E27FC236}">
                <a16:creationId xmlns:a16="http://schemas.microsoft.com/office/drawing/2014/main" id="{7C3AC28B-79F1-8957-1E8A-090C39221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2848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0"/>
          <p:cNvSpPr txBox="1"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anklin Gothic"/>
              <a:buNone/>
            </a:pPr>
            <a:r>
              <a:rPr lang="pt-BR" sz="6000" b="1" i="0" u="none" strike="noStrike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Obrigado</a:t>
            </a:r>
            <a:endParaRPr/>
          </a:p>
        </p:txBody>
      </p:sp>
      <p:sp>
        <p:nvSpPr>
          <p:cNvPr id="380" name="Google Shape;380;p20"/>
          <p:cNvSpPr txBox="1">
            <a:spLocks noGrp="1"/>
          </p:cNvSpPr>
          <p:nvPr>
            <p:ph type="body" idx="1"/>
          </p:nvPr>
        </p:nvSpPr>
        <p:spPr>
          <a:xfrm>
            <a:off x="594360" y="4549552"/>
            <a:ext cx="54864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Prof. MSc. Emmanoel Monteiro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emmanoeljr@gmail.com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@emmanoelmonteiro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545</Words>
  <Application>Microsoft Office PowerPoint</Application>
  <PresentationFormat>Widescreen</PresentationFormat>
  <Paragraphs>64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Libre Franklin</vt:lpstr>
      <vt:lpstr>Franklin Gothic</vt:lpstr>
      <vt:lpstr>Personalizado</vt:lpstr>
      <vt:lpstr>Design Centrado no Ser Humano: A importância das Cores</vt:lpstr>
      <vt:lpstr>ARTIGO 01  A Influência das Cores na  Usabilidade de Interfaces</vt:lpstr>
      <vt:lpstr>ARTIGO 01  A Influência das Cores na  Usabilidade de Interfaces</vt:lpstr>
      <vt:lpstr>ARTIGO 01  A Influência das Cores na  Usabilidade de Interfaces</vt:lpstr>
      <vt:lpstr>ARTIGO 01  A Influência das Cores na  Usabilidade de Interfaces</vt:lpstr>
      <vt:lpstr>ARTIGO 01  A Influência das Cores na  Usabilidade de Interfaces</vt:lpstr>
      <vt:lpstr>ARTIGO 01  A Influência das Cores na  Usabilidade de Interfaces</vt:lpstr>
      <vt:lpstr>ARTIGO 02  A Importância das Cores  nas Identidades Visuais</vt:lpstr>
      <vt:lpstr>ARTIGO 02  A Importância das Cores  nas Identidades Visuais</vt:lpstr>
      <vt:lpstr>ARTIGO 02  A Importância das Cores  nas Identidades Visuais</vt:lpstr>
      <vt:lpstr>Apresentação do PowerPoint</vt:lpstr>
      <vt:lpstr>Apresentação do PowerPoint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Emmanoel Monteiro de Sousa Junior</dc:creator>
  <cp:lastModifiedBy>Emmanoel Monteiro</cp:lastModifiedBy>
  <cp:revision>23</cp:revision>
  <dcterms:created xsi:type="dcterms:W3CDTF">2024-11-06T17:53:21Z</dcterms:created>
  <dcterms:modified xsi:type="dcterms:W3CDTF">2025-04-14T19:58:02Z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