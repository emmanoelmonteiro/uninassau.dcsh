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93" r:id="rId5"/>
    <p:sldId id="281" r:id="rId6"/>
    <p:sldId id="285" r:id="rId7"/>
    <p:sldId id="282" r:id="rId8"/>
    <p:sldId id="283" r:id="rId9"/>
    <p:sldId id="284" r:id="rId10"/>
    <p:sldId id="286" r:id="rId11"/>
    <p:sldId id="294" r:id="rId12"/>
    <p:sldId id="287" r:id="rId13"/>
    <p:sldId id="298" r:id="rId14"/>
    <p:sldId id="288" r:id="rId15"/>
    <p:sldId id="299" r:id="rId16"/>
    <p:sldId id="300" r:id="rId17"/>
    <p:sldId id="289" r:id="rId18"/>
    <p:sldId id="296" r:id="rId19"/>
    <p:sldId id="297" r:id="rId20"/>
    <p:sldId id="290" r:id="rId21"/>
    <p:sldId id="295" r:id="rId22"/>
    <p:sldId id="291" r:id="rId23"/>
    <p:sldId id="301" r:id="rId24"/>
    <p:sldId id="302" r:id="rId25"/>
    <p:sldId id="292" r:id="rId26"/>
    <p:sldId id="280" r:id="rId27"/>
  </p:sldIdLst>
  <p:sldSz cx="12192000" cy="6858000"/>
  <p:notesSz cx="6858000" cy="9144000"/>
  <p:embeddedFontLst>
    <p:embeddedFont>
      <p:font typeface="Franklin Gothic" panose="020B0604020202020204" charset="0"/>
      <p:bold r:id="rId29"/>
    </p:embeddedFont>
    <p:embeddedFont>
      <p:font typeface="Libre Franklin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ij+skMm+Ik5HJLd0abJ7iKuqpW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F2B7C1B1-662B-3EF9-15DB-DD92C2943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6C9A90AF-6440-6CFF-11E7-F1D1AA036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CCFF802C-C6E6-E7EE-430C-89BD90DB74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D67D5DD2-CCFE-6567-9C4F-82400FF604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0201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FC8F50F-3D88-F57F-2AD9-86A78223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6AB7D60F-7C6E-A0B5-F2F0-7FF3B6CC5B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4F15EF98-3398-4E0D-41F5-EFA91F5A8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58AFE05B-6A3A-245A-C98E-02436469DF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9721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F80E0C91-3E54-3A08-C72D-C3EF1A17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D001AF39-3AAC-275A-C1D3-2514F80B7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B12A5E96-2D3A-FFA5-A752-42513B24C9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0FC8B444-4FD6-EF31-4FC5-441D22C069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5797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8F6AC8E1-D183-E35F-2BC1-8B18B43D5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717ED7AB-E8F9-6F57-8914-78648E3421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D085EA32-CF23-FB52-471C-E1FE08F961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0033207E-8E99-0AE5-4F2D-633CD74069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8363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797B279F-5C46-E784-C299-BBF702222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B281FC07-6E80-AD35-FAA4-97E9B5E7E2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F6F3D335-C14B-398A-3986-C4978B514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ACBDCACD-328B-8C0C-EBC3-4BCBCF6A91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5865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8DDBE060-8149-8F88-9C83-B8E09CF8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6DF562AB-760C-E5BF-D916-B8F9E3A434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11813857-863A-40B6-20F2-C17B730806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285068BA-BAC3-6E22-8AD6-507F480636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1331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87414DAF-CC54-1DF5-3981-FDCD7FC57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C5EBCE20-2663-6F98-8E7B-F3848F36D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1522F07D-A2B4-0D64-115D-EDCFA44B8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0E806D1C-831B-A45E-A399-F9B57F1CE9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4171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D5223B41-4F02-55B3-DB2E-4F00004EE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A12961BE-922D-8CF2-9024-4D210A9336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34E65F9C-E28B-7A02-D085-787AD6794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6833ED44-F597-D6DA-2054-53E5234B4E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3321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15AF4677-3963-D615-3C69-2A20C4FE9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2350EB57-3420-428F-5F91-E3FB18848A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667CF665-E466-303E-2A4A-D52CA5DE65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AA930D40-361D-1C2C-9DC4-0AF2930CCC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28564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6FD50DE3-72FE-ABC7-01CA-7396960BC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E5325000-CFB0-DA2B-4716-ECC923688A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FE99908B-01D0-439A-B88B-58DCA65B6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AB23F5B6-78CD-5C28-4A54-0E42E8A4A3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46682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B1C71AF1-AFE5-61F7-5D6B-396DC17E5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AA6E8803-CC1D-2C8D-C549-A58CDFDF8B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05F94739-9E4B-45B7-047C-8FB846AF01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5C197A17-7BE5-BF5D-1E47-4D2424EB2F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9181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95CD9C1F-A01A-19AA-8B57-3A4B4CA5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9149D9C5-A2AE-CF19-D618-82256B3F13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9E32F4C5-D14B-98D0-8C97-0FEEEEC56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D2F5AF69-582E-1268-E68D-FD12898346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8577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C13B0AA6-8F2E-2A69-1235-C932D92C3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924DD3AD-5E65-9BD3-D868-8724D006CC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5FF06DCA-8C17-A3C2-0F3E-2E3DB10DF0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E0399E73-13DC-2869-433B-FBF7B2A640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0612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9C97816A-59A6-534B-C201-C9D027587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2B8EF618-31C1-BAC9-1A0F-C272D02139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038524E5-9CDF-A967-09B3-2CDC4D779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CD2956F8-CDCB-B699-DA49-F0EAFA252A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25802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B41EFC4-3B87-5B6F-B986-6F6E29A3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49A55860-6976-664F-3490-E7264ECC4D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5D603B77-5D59-E933-A173-A9C5E5DE5C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A4D61F92-C872-88BD-0646-2420492A15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53910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226886D8-77DD-AF67-669C-A640159A6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9AD8FADF-F2D4-5C74-9B7B-14645BEF7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31788259-BBE5-143C-F591-35C01A4A8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187FFDA8-6CE9-969D-DBAB-1628ADBCF7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03862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F7F20C6-9453-1731-1DFF-DA3354E71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30F091FC-BD57-D203-00E5-B15CFAD0B4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85AED471-79C4-B93A-C912-0807E99C0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42DC8585-D8B9-BAF5-5750-762D32AFDD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70676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FA69B47-07B7-9B34-6179-9DCB3CAF4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52445032-39D2-A167-842B-775CF7EAF1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9B51414C-07DF-BF16-A3C3-3E163D2998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F0778179-692F-1E6E-F360-27A95AC3DD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6758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A2A39457-5748-A09F-8C94-413E15DC4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B9E67C85-F060-18D9-B8A8-1CC4AFAA3C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27310A3E-67DA-7B8E-AE0D-DB94002440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0EE380B6-DCB7-B770-F495-32D3DB9A3A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548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DA6BF025-54B3-7247-685A-7FCF72588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56855E3F-A9C7-4E4E-7046-0E0C46622F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40C45377-6857-1A1A-5216-A180409DC9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072B465D-1658-BCB0-2FC8-6BDFEA01B6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13331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A9B571BC-0CB0-6998-19D9-4DF670BED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9EAE2DA7-D212-9093-930C-5AEF167F54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B47AE637-7F69-054C-6EA8-0C2BE225D5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2932937B-3A1D-56AE-3D98-9AE1654680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45674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5C0FE75-AF5B-60F2-902A-A6B3BBB0F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44F773FF-2AC5-9597-6912-3F95AC302D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45BBA55E-C39A-3CEB-944D-4C69E0AC43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CECF3D1B-13A1-36E9-8C94-452AB5DD3A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63188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1">
  <p:cSld name="Título 1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2"/>
          <p:cNvSpPr txBox="1"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" name="Google Shape;16;p22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7" name="Google Shape;17;p22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" name="Google Shape;18;p22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22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20" name="Google Shape;20;p22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1">
  <p:cSld name="Agenda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23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3" name="Google Shape;23;p23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" name="Google Shape;24;p23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" name="Google Shape;25;p23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23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23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594359" y="2281918"/>
            <a:ext cx="6787747" cy="370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rmAutofit/>
          </a:bodyPr>
          <a:lstStyle>
            <a:lvl1pPr marL="457200" lvl="0" indent="-38100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ts val="2400"/>
              <a:buFont typeface="Arial"/>
              <a:buChar char="•"/>
              <a:defRPr sz="24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2" name="Google Shape;32;p23"/>
          <p:cNvCxnSpPr/>
          <p:nvPr/>
        </p:nvCxnSpPr>
        <p:spPr>
          <a:xfrm>
            <a:off x="594360" y="2148840"/>
            <a:ext cx="2130552" cy="0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Dois Conteúdos">
  <p:cSld name="Título e Dois Conteúdos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24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5" name="Google Shape;35;p24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6" name="Google Shape;36;p24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7" name="Google Shape;37;p24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38" name="Google Shape;38;p24"/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9" name="Google Shape;39;p24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" name="Google Shape;40;p24"/>
          <p:cNvSpPr txBox="1">
            <a:spLocks noGrp="1"/>
          </p:cNvSpPr>
          <p:nvPr>
            <p:ph type="body" idx="1"/>
          </p:nvPr>
        </p:nvSpPr>
        <p:spPr>
          <a:xfrm>
            <a:off x="595523" y="2676525"/>
            <a:ext cx="5746750" cy="35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2"/>
          </p:nvPr>
        </p:nvSpPr>
        <p:spPr>
          <a:xfrm>
            <a:off x="7620000" y="2676525"/>
            <a:ext cx="3947160" cy="35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3">
  <p:cSld name="Título 3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6" name="Google Shape;46;p25"/>
          <p:cNvGrpSpPr/>
          <p:nvPr/>
        </p:nvGrpSpPr>
        <p:grpSpPr>
          <a:xfrm rot="10800000">
            <a:off x="6092752" y="0"/>
            <a:ext cx="6099248" cy="6099248"/>
            <a:chOff x="0" y="12289"/>
            <a:chExt cx="3550" cy="3551"/>
          </a:xfrm>
        </p:grpSpPr>
        <p:sp>
          <p:nvSpPr>
            <p:cNvPr id="47" name="Google Shape;47;p25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8" name="Google Shape;48;p25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49;p25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594360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sz="24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1" name="Google Shape;51;p25"/>
          <p:cNvCxnSpPr/>
          <p:nvPr/>
        </p:nvCxnSpPr>
        <p:spPr>
          <a:xfrm>
            <a:off x="594360" y="39502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da seção">
  <p:cSld name="Título da seção">
    <p:bg>
      <p:bgPr>
        <a:solidFill>
          <a:schemeClr val="accent3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80543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26"/>
          <p:cNvSpPr txBox="1">
            <a:spLocks noGrp="1"/>
          </p:cNvSpPr>
          <p:nvPr>
            <p:ph type="title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ranklin Gothic"/>
              <a:buNone/>
              <a:defRPr sz="6000" b="1" i="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/>
          <p:nvPr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2">
  <p:cSld name="Título 2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>
            <a:spLocks noGrp="1"/>
          </p:cNvSpPr>
          <p:nvPr>
            <p:ph type="pic" idx="2"/>
          </p:nvPr>
        </p:nvSpPr>
        <p:spPr>
          <a:xfrm>
            <a:off x="0" y="-11113"/>
            <a:ext cx="5791200" cy="6880226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6299835" y="456860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sz="24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0" name="Google Shape;60;p27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umo 2">
  <p:cSld name="Resumo 2"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28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3" name="Google Shape;63;p2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64" name="Google Shape;64;p2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5" name="Google Shape;65;p2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6" name="Google Shape;66;p2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7" name="Google Shape;67;p28"/>
          <p:cNvSpPr txBox="1"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3657600" y="2282008"/>
            <a:ext cx="7810500" cy="3699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">
  <p:cSld name="Título"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9"/>
          <p:cNvSpPr txBox="1"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3" name="Google Shape;73;p29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74" name="Google Shape;74;p2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5" name="Google Shape;75;p2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6" name="Google Shape;76;p2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77" name="Google Shape;77;p29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>
            <a:off x="6309905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sz="24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Dois Conteúdos 2">
  <p:cSld name="Título e Dois Conteúdos 2"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30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81" name="Google Shape;81;p30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2" name="Google Shape;82;p30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3" name="Google Shape;83;p30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84" name="Google Shape;84;p30"/>
          <p:cNvSpPr txBox="1"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body" idx="1"/>
          </p:nvPr>
        </p:nvSpPr>
        <p:spPr>
          <a:xfrm>
            <a:off x="594360" y="2676525"/>
            <a:ext cx="4490827" cy="35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body" idx="2"/>
          </p:nvPr>
        </p:nvSpPr>
        <p:spPr>
          <a:xfrm>
            <a:off x="5881898" y="2676525"/>
            <a:ext cx="4490827" cy="35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88" name="Google Shape;88;p30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9" name="Google Shape;89;p30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 ">
  <p:cSld name="Título e Conteúdo "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31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92" name="Google Shape;92;p31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3" name="Google Shape;93;p31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4" name="Google Shape;94;p31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5" name="Google Shape;95;p31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6" name="Google Shape;96;p31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97" name="Google Shape;97;p31"/>
          <p:cNvSpPr txBox="1"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98" name="Google Shape;98;p31"/>
          <p:cNvCxnSpPr/>
          <p:nvPr/>
        </p:nvCxnSpPr>
        <p:spPr>
          <a:xfrm>
            <a:off x="6347460" y="631317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9" name="Google Shape;99;p31"/>
          <p:cNvSpPr txBox="1">
            <a:spLocks noGrp="1"/>
          </p:cNvSpPr>
          <p:nvPr>
            <p:ph type="body" idx="1"/>
          </p:nvPr>
        </p:nvSpPr>
        <p:spPr>
          <a:xfrm>
            <a:off x="603885" y="457201"/>
            <a:ext cx="5198269" cy="2305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eriod"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lphaLcPeriod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arenR"/>
              <a:defRPr sz="2000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None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eriod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31"/>
          <p:cNvSpPr txBox="1">
            <a:spLocks noGrp="1"/>
          </p:cNvSpPr>
          <p:nvPr>
            <p:ph type="body" idx="2"/>
          </p:nvPr>
        </p:nvSpPr>
        <p:spPr>
          <a:xfrm>
            <a:off x="594360" y="2810595"/>
            <a:ext cx="5198269" cy="331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31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02" name="Google Shape;102;p31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e imagem do título">
  <p:cSld name="Conteúdo e imagem do título"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2"/>
          <p:cNvSpPr txBox="1"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2"/>
          <p:cNvSpPr txBox="1">
            <a:spLocks noGrp="1"/>
          </p:cNvSpPr>
          <p:nvPr>
            <p:ph type="body" idx="1"/>
          </p:nvPr>
        </p:nvSpPr>
        <p:spPr>
          <a:xfrm>
            <a:off x="594360" y="3279579"/>
            <a:ext cx="5044440" cy="2994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06" name="Google Shape;106;p32"/>
          <p:cNvCxnSpPr/>
          <p:nvPr/>
        </p:nvCxnSpPr>
        <p:spPr>
          <a:xfrm>
            <a:off x="594360" y="299745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" name="Google Shape;107;p32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11822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32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09" name="Google Shape;109;p32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e tabela do título">
  <p:cSld name="Conteúdo e tabela do título"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33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2" name="Google Shape;112;p33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3" name="Google Shape;113;p33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4" name="Google Shape;114;p33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5" name="Google Shape;115;p33"/>
          <p:cNvSpPr txBox="1"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33"/>
          <p:cNvCxnSpPr/>
          <p:nvPr/>
        </p:nvCxnSpPr>
        <p:spPr>
          <a:xfrm>
            <a:off x="3670935" y="631317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33"/>
          <p:cNvSpPr txBox="1">
            <a:spLocks noGrp="1"/>
          </p:cNvSpPr>
          <p:nvPr>
            <p:ph type="body" idx="1"/>
          </p:nvPr>
        </p:nvSpPr>
        <p:spPr>
          <a:xfrm>
            <a:off x="603885" y="584005"/>
            <a:ext cx="2825115" cy="399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33"/>
          <p:cNvSpPr txBox="1">
            <a:spLocks noGrp="1"/>
          </p:cNvSpPr>
          <p:nvPr>
            <p:ph type="body" idx="2"/>
          </p:nvPr>
        </p:nvSpPr>
        <p:spPr>
          <a:xfrm>
            <a:off x="3670934" y="584005"/>
            <a:ext cx="7926705" cy="399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33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20" name="Google Shape;120;p33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ela 2">
  <p:cSld name="Tabela 2">
    <p:bg>
      <p:bgPr>
        <a:solidFill>
          <a:schemeClr val="lt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4"/>
          <p:cNvSpPr txBox="1">
            <a:spLocks noGrp="1"/>
          </p:cNvSpPr>
          <p:nvPr>
            <p:ph type="title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4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24" name="Google Shape;124;p34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5" name="Google Shape;125;p34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>
            <a:spLocks noGrp="1"/>
          </p:cNvSpPr>
          <p:nvPr>
            <p:ph type="ctrTitle"/>
          </p:nvPr>
        </p:nvSpPr>
        <p:spPr>
          <a:xfrm>
            <a:off x="6564735" y="1905249"/>
            <a:ext cx="5295169" cy="1690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anklin Gothic"/>
              <a:buNone/>
            </a:pPr>
            <a:r>
              <a:rPr lang="pt-BR" sz="3200" b="1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DESIGN CENTRADO NO SER HUMANO: </a:t>
            </a:r>
            <a:r>
              <a:rPr lang="pt-BR" sz="3200" b="0" i="0" u="none" strike="noStrike" cap="none" dirty="0">
                <a:solidFill>
                  <a:srgbClr val="0070C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Métodos de Pesquisa de Experiência do Usuário (UX) | 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UX </a:t>
            </a:r>
            <a:r>
              <a:rPr lang="pt-BR" sz="3200" b="0" i="0" u="none" strike="noStrike" cap="none" dirty="0" err="1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Research</a:t>
            </a:r>
            <a:endParaRPr dirty="0">
              <a:solidFill>
                <a:srgbClr val="002060"/>
              </a:solidFill>
            </a:endParaRPr>
          </a:p>
        </p:txBody>
      </p:sp>
      <p:pic>
        <p:nvPicPr>
          <p:cNvPr id="132" name="Google Shape;132;p1" descr="Comunicado | UNINASSAU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8273" y="2160743"/>
            <a:ext cx="3464841" cy="1357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"/>
          <p:cNvSpPr txBox="1"/>
          <p:nvPr/>
        </p:nvSpPr>
        <p:spPr>
          <a:xfrm>
            <a:off x="6303114" y="4169744"/>
            <a:ext cx="50495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Prof. MSc</a:t>
            </a:r>
            <a:r>
              <a:rPr lang="pt-BR" sz="18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 S. Junior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 txBox="1"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pt-BR"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Agenda</a:t>
            </a: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body" idx="1"/>
          </p:nvPr>
        </p:nvSpPr>
        <p:spPr>
          <a:xfrm>
            <a:off x="593724" y="2281238"/>
            <a:ext cx="10024234" cy="3709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0" bIns="0" anchor="t" anchorCtr="0">
            <a:normAutofit/>
          </a:bodyPr>
          <a:lstStyle/>
          <a:p>
            <a:pPr marL="283464" marR="0" lvl="0" indent="-28346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0" i="0" u="none" strike="noStrike" cap="none" dirty="0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Conceitos-Chave de UX</a:t>
            </a:r>
          </a:p>
          <a:p>
            <a:pPr marL="283464" marR="0" lvl="0" indent="-28346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endParaRPr lang="pt-BR" b="0" dirty="0">
              <a:solidFill>
                <a:schemeClr val="tx1"/>
              </a:solidFill>
            </a:endParaRPr>
          </a:p>
          <a:p>
            <a:pPr marL="283464" marR="0" lvl="0" indent="-28346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0" i="0" u="none" strike="noStrike" cap="none" dirty="0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Relação entre Usabilidade, IHC, DCU e UX.</a:t>
            </a:r>
            <a:endParaRPr dirty="0">
              <a:solidFill>
                <a:schemeClr val="tx1"/>
              </a:solidFill>
            </a:endParaRPr>
          </a:p>
          <a:p>
            <a:pPr marL="283464" marR="0" lvl="0" indent="-283464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0" i="0" u="none" strike="noStrike" cap="none" dirty="0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Tipos de Avaliação em UX.</a:t>
            </a:r>
            <a:endParaRPr lang="pt-BR" b="0" dirty="0">
              <a:solidFill>
                <a:schemeClr val="tx1"/>
              </a:solidFill>
            </a:endParaRPr>
          </a:p>
          <a:p>
            <a:pPr marL="283464" marR="0" lvl="0" indent="-283464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b="0" dirty="0">
                <a:solidFill>
                  <a:schemeClr val="tx1"/>
                </a:solidFill>
              </a:rPr>
              <a:t>Técnicas de Pesquisa em UX.</a:t>
            </a:r>
            <a:endParaRPr b="0" dirty="0">
              <a:solidFill>
                <a:schemeClr val="tx1"/>
              </a:solidFill>
            </a:endParaRPr>
          </a:p>
        </p:txBody>
      </p:sp>
      <p:pic>
        <p:nvPicPr>
          <p:cNvPr id="2" name="Google Shape;149;p3" descr="Comunicado | UNINASSAU">
            <a:extLst>
              <a:ext uri="{FF2B5EF4-FFF2-40B4-BE49-F238E27FC236}">
                <a16:creationId xmlns:a16="http://schemas.microsoft.com/office/drawing/2014/main" id="{9FF436E9-D0B2-F548-5BA2-0F07AFCCA4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0;p3">
            <a:extLst>
              <a:ext uri="{FF2B5EF4-FFF2-40B4-BE49-F238E27FC236}">
                <a16:creationId xmlns:a16="http://schemas.microsoft.com/office/drawing/2014/main" id="{5DC8F159-EF4B-A1DD-2B05-820C1FF727E4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/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 que é UX </a:t>
            </a:r>
            <a:r>
              <a:rPr lang="pt-BR" sz="3200" b="0" i="0" u="none" strike="noStrike" cap="none" dirty="0" err="1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Research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?</a:t>
            </a:r>
            <a:endParaRPr sz="3200" b="0" dirty="0">
              <a:solidFill>
                <a:srgbClr val="002060"/>
              </a:solidFill>
            </a:endParaRPr>
          </a:p>
        </p:txBody>
      </p:sp>
      <p:pic>
        <p:nvPicPr>
          <p:cNvPr id="149" name="Google Shape;149;p3" descr="Comunicado | UNINASSAU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/>
          <p:cNvSpPr txBox="1"/>
          <p:nvPr/>
        </p:nvSpPr>
        <p:spPr>
          <a:xfrm>
            <a:off x="9958693" y="6228314"/>
            <a:ext cx="202491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MSc. </a:t>
            </a:r>
            <a:r>
              <a:rPr lang="pt-BR" sz="1100" i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/>
          </a:p>
        </p:txBody>
      </p:sp>
      <p:pic>
        <p:nvPicPr>
          <p:cNvPr id="152" name="Google Shape;152;p3" descr="17 ferramentas essenciais para UI designers: um guia para iniciante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41308" y="2644361"/>
            <a:ext cx="5871079" cy="27123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1;p3">
            <a:extLst>
              <a:ext uri="{FF2B5EF4-FFF2-40B4-BE49-F238E27FC236}">
                <a16:creationId xmlns:a16="http://schemas.microsoft.com/office/drawing/2014/main" id="{9376DF31-AA9E-211D-9C1B-A27BF8DC67ED}"/>
              </a:ext>
            </a:extLst>
          </p:cNvPr>
          <p:cNvSpPr txBox="1"/>
          <p:nvPr/>
        </p:nvSpPr>
        <p:spPr>
          <a:xfrm>
            <a:off x="484177" y="2296497"/>
            <a:ext cx="4496532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Conjunto de métodos, técnicas e ferramentas para entender como pessoas interpretam e usam sistemas antes, durante e após a interação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Alinha-se à abordagem de design centrado no humano definida pela ISO 9241-210, que enfatiza necessidades, requisitos e iteração contínua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9F0D3B95-9639-B3F3-42BF-F0EF0BD85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CD78A460-0948-3544-0061-1D447A81F2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4000" b="1" i="0" u="none" strike="noStrike" cap="none" dirty="0">
                <a:solidFill>
                  <a:srgbClr val="0070C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Importância para desenvolvedores</a:t>
            </a:r>
            <a:endParaRPr sz="3200" b="0" dirty="0">
              <a:solidFill>
                <a:srgbClr val="0070C0"/>
              </a:solidFill>
            </a:endParaRPr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02004269-C179-AA2C-22E7-4A503FDBF0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7FD5EE89-A21C-EB9B-EE26-E4F88060A0F4}"/>
              </a:ext>
            </a:extLst>
          </p:cNvPr>
          <p:cNvSpPr txBox="1"/>
          <p:nvPr/>
        </p:nvSpPr>
        <p:spPr>
          <a:xfrm>
            <a:off x="9958693" y="6228314"/>
            <a:ext cx="202491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MSc. </a:t>
            </a:r>
            <a:r>
              <a:rPr lang="pt-BR" sz="1100" i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/>
          </a:p>
        </p:txBody>
      </p:sp>
      <p:sp>
        <p:nvSpPr>
          <p:cNvPr id="151" name="Google Shape;151;p3">
            <a:extLst>
              <a:ext uri="{FF2B5EF4-FFF2-40B4-BE49-F238E27FC236}">
                <a16:creationId xmlns:a16="http://schemas.microsoft.com/office/drawing/2014/main" id="{0210F7A8-BA2B-3318-EF42-CF009D45A8FB}"/>
              </a:ext>
            </a:extLst>
          </p:cNvPr>
          <p:cNvSpPr txBox="1"/>
          <p:nvPr/>
        </p:nvSpPr>
        <p:spPr>
          <a:xfrm>
            <a:off x="484177" y="2296497"/>
            <a:ext cx="4496532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Garante decisões baseadas em evidências sobre funcionalidades e fluxos, reduzindo retrabalho e aumentando a satisfação do usuário.</a:t>
            </a: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pt-BR"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Suporta métricas de sucesso além de performance técnica, como eficiência, eficácia e satisfação.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2" name="Google Shape;152;p3" descr="17 ferramentas essenciais para UI designers: um guia para iniciantes">
            <a:extLst>
              <a:ext uri="{FF2B5EF4-FFF2-40B4-BE49-F238E27FC236}">
                <a16:creationId xmlns:a16="http://schemas.microsoft.com/office/drawing/2014/main" id="{46219B9B-6A1A-2A37-7E95-490ACAA3282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41308" y="2644361"/>
            <a:ext cx="5871079" cy="27123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7828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C4A0E54C-8BFE-A672-B800-78A0C6561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9444DF19-9EBE-DD79-13DC-0E3B7B05ED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1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 relação entre Usabilidade, IHC, DCU e UX</a:t>
            </a:r>
            <a:endParaRPr sz="3200" dirty="0">
              <a:solidFill>
                <a:srgbClr val="002060"/>
              </a:solidFill>
            </a:endParaRPr>
          </a:p>
        </p:txBody>
      </p:sp>
      <p:sp>
        <p:nvSpPr>
          <p:cNvPr id="151" name="Google Shape;151;p3">
            <a:extLst>
              <a:ext uri="{FF2B5EF4-FFF2-40B4-BE49-F238E27FC236}">
                <a16:creationId xmlns:a16="http://schemas.microsoft.com/office/drawing/2014/main" id="{63FA6CC0-4C6D-46D4-CFF7-315298EAA272}"/>
              </a:ext>
            </a:extLst>
          </p:cNvPr>
          <p:cNvSpPr txBox="1"/>
          <p:nvPr/>
        </p:nvSpPr>
        <p:spPr>
          <a:xfrm>
            <a:off x="484176" y="2296497"/>
            <a:ext cx="4972243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Como um campo de estudo influenciado por várias áreas do conhecimento e que tem seu aporte teórico em constante atualização, Ferreira (2018, p. 38) destaca que </a:t>
            </a: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 UX pode muitas vezes ser utilizada como sinônimo de usabilidade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, e ainda “[…] associado à </a:t>
            </a: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Interface do Usuário, Experiência de Interação, Design de Interação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e incorporado a diferentes disciplinas”. Entretanto, a autora reforça a amplitude do termo ao relacioná-lo com a </a:t>
            </a: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Usabilidade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, e afirma que a UX vai muito além da utilidade de um produto e de suas características de usabilidade. 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Relação entre usabilidade – IHC, DCU e UX Fonte: Adaptada de Lowdermilk...  | Download Scientific Diagram">
            <a:extLst>
              <a:ext uri="{FF2B5EF4-FFF2-40B4-BE49-F238E27FC236}">
                <a16:creationId xmlns:a16="http://schemas.microsoft.com/office/drawing/2014/main" id="{1301F4FE-0FCA-8709-8FCA-FAECFD8FF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210" y="2305049"/>
            <a:ext cx="5241482" cy="3407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149;p3" descr="Comunicado | UNINASSAU">
            <a:extLst>
              <a:ext uri="{FF2B5EF4-FFF2-40B4-BE49-F238E27FC236}">
                <a16:creationId xmlns:a16="http://schemas.microsoft.com/office/drawing/2014/main" id="{5846B5D1-6DF0-CB58-047F-8B6EDD9276F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0;p3">
            <a:extLst>
              <a:ext uri="{FF2B5EF4-FFF2-40B4-BE49-F238E27FC236}">
                <a16:creationId xmlns:a16="http://schemas.microsoft.com/office/drawing/2014/main" id="{B078C10C-B625-96EB-F2DC-BCFB04773FD6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098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DCB5A49E-E5AF-467E-6031-0A7C3B403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0752195E-44D4-7868-7C30-81C83715D0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1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 relação entre Usabilidade, IHC, DCU e UX</a:t>
            </a:r>
            <a:endParaRPr sz="3200" dirty="0">
              <a:solidFill>
                <a:srgbClr val="002060"/>
              </a:solidFill>
            </a:endParaRPr>
          </a:p>
        </p:txBody>
      </p:sp>
      <p:sp>
        <p:nvSpPr>
          <p:cNvPr id="151" name="Google Shape;151;p3">
            <a:extLst>
              <a:ext uri="{FF2B5EF4-FFF2-40B4-BE49-F238E27FC236}">
                <a16:creationId xmlns:a16="http://schemas.microsoft.com/office/drawing/2014/main" id="{B7091179-9CAB-DD32-8C99-F124E3DB1E17}"/>
              </a:ext>
            </a:extLst>
          </p:cNvPr>
          <p:cNvSpPr txBox="1"/>
          <p:nvPr/>
        </p:nvSpPr>
        <p:spPr>
          <a:xfrm>
            <a:off x="484176" y="2296497"/>
            <a:ext cx="6141476" cy="360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Como as Áreas se Conectam?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Usabilidade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 Base técnica (NBR </a:t>
            </a: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ISO 9241-210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).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IHC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 Estudo da interação entre humanos e sistemas (</a:t>
            </a:r>
            <a:r>
              <a:rPr lang="pt-BR" sz="2000" b="1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Hear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(Ouvir), </a:t>
            </a:r>
            <a:r>
              <a:rPr lang="pt-BR" sz="2000" b="1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Create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(Criar) e </a:t>
            </a:r>
            <a:r>
              <a:rPr lang="pt-BR" sz="2000" b="1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Deliver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(Implementar)).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DCSH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 Processo iterativo de design focado no usuário (</a:t>
            </a: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Heurísticas de Nielsen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).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UX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 Experiência holística (inclui emoções e contexto).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Relação entre usabilidade – IHC, DCU e UX Fonte: Adaptada de Lowdermilk...  | Download Scientific Diagram">
            <a:extLst>
              <a:ext uri="{FF2B5EF4-FFF2-40B4-BE49-F238E27FC236}">
                <a16:creationId xmlns:a16="http://schemas.microsoft.com/office/drawing/2014/main" id="{2F0DBD0C-7D83-41AE-A7C2-8AA1E107C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038" y="2700309"/>
            <a:ext cx="4548122" cy="2956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149;p3" descr="Comunicado | UNINASSAU">
            <a:extLst>
              <a:ext uri="{FF2B5EF4-FFF2-40B4-BE49-F238E27FC236}">
                <a16:creationId xmlns:a16="http://schemas.microsoft.com/office/drawing/2014/main" id="{CBEECAEF-ECB8-574D-3D01-0E7DE130DCB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0;p3">
            <a:extLst>
              <a:ext uri="{FF2B5EF4-FFF2-40B4-BE49-F238E27FC236}">
                <a16:creationId xmlns:a16="http://schemas.microsoft.com/office/drawing/2014/main" id="{C0226D06-FDCC-DB23-6F08-107B4313F680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1954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55CF5F15-2AC7-9CA3-2FC4-7119318B1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004F187F-D94F-B622-F27D-FDE0995BF4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F8C08910-9977-91AA-7F81-D9E2D1F7FF96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151" name="Google Shape;151;p3">
            <a:extLst>
              <a:ext uri="{FF2B5EF4-FFF2-40B4-BE49-F238E27FC236}">
                <a16:creationId xmlns:a16="http://schemas.microsoft.com/office/drawing/2014/main" id="{614DFA02-D851-FCE5-3E32-AD6EC0E924E6}"/>
              </a:ext>
            </a:extLst>
          </p:cNvPr>
          <p:cNvSpPr txBox="1"/>
          <p:nvPr/>
        </p:nvSpPr>
        <p:spPr>
          <a:xfrm>
            <a:off x="484176" y="2296497"/>
            <a:ext cx="1063852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 norma NBR ISO 9241-210 (2011), que trata sobre os requisitos e as recomendações para projetos interativos computacionais centrados no ser humano, define a UX como as “</a:t>
            </a:r>
            <a:r>
              <a:rPr lang="pt-BR" sz="2000" b="1" i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Percepções e respostas da pessoa resultantes do uso, e/ou, do uso antecipado de um produto, sistema ou serviço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”. Ela aponta três notas a essas percepções e respostas, conforme a seguir: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151;p3">
            <a:extLst>
              <a:ext uri="{FF2B5EF4-FFF2-40B4-BE49-F238E27FC236}">
                <a16:creationId xmlns:a16="http://schemas.microsoft.com/office/drawing/2014/main" id="{B7653713-A449-2AE0-0ECF-238FE2FFC5EA}"/>
              </a:ext>
            </a:extLst>
          </p:cNvPr>
          <p:cNvSpPr txBox="1"/>
          <p:nvPr/>
        </p:nvSpPr>
        <p:spPr>
          <a:xfrm>
            <a:off x="1398576" y="4451476"/>
            <a:ext cx="5841673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NOTA 1: 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 experiência do usuário inclui todas as </a:t>
            </a:r>
            <a:r>
              <a:rPr lang="pt-BR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emoções</a:t>
            </a:r>
            <a:r>
              <a:rPr lang="pt-BR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pt-BR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crenças</a:t>
            </a:r>
            <a:r>
              <a:rPr lang="pt-BR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pt-BR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preferências</a:t>
            </a:r>
            <a:r>
              <a:rPr lang="pt-BR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pt-BR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percepções</a:t>
            </a:r>
            <a:r>
              <a:rPr lang="pt-BR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respostas físicas e psicológicas, </a:t>
            </a: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comportamentos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e </a:t>
            </a: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realizações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dos usuários que ocorrem antes, durante e após o uso. 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 descr="Experiência do usuário: entenda o que é e qual a sua importância | Lumis  Experience Platform">
            <a:extLst>
              <a:ext uri="{FF2B5EF4-FFF2-40B4-BE49-F238E27FC236}">
                <a16:creationId xmlns:a16="http://schemas.microsoft.com/office/drawing/2014/main" id="{0D221199-6505-481A-9849-8AB1BBC12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9444" y="3229645"/>
            <a:ext cx="3066497" cy="269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48;p3">
            <a:extLst>
              <a:ext uri="{FF2B5EF4-FFF2-40B4-BE49-F238E27FC236}">
                <a16:creationId xmlns:a16="http://schemas.microsoft.com/office/drawing/2014/main" id="{E08B1298-F453-7B88-694B-DDBFFDCBD7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1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 relação entre Usabilidade, IHC, DCU e UX</a:t>
            </a:r>
            <a:endParaRPr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665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62141FBD-7F22-BA31-F42D-44DF182A1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esign Emocional | UX Collective 🇧🇷">
            <a:extLst>
              <a:ext uri="{FF2B5EF4-FFF2-40B4-BE49-F238E27FC236}">
                <a16:creationId xmlns:a16="http://schemas.microsoft.com/office/drawing/2014/main" id="{15A3712D-82C9-B8F2-AE80-089F329FAB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9" t="7220" r="8991" b="6105"/>
          <a:stretch/>
        </p:blipFill>
        <p:spPr bwMode="auto">
          <a:xfrm>
            <a:off x="4371102" y="1772725"/>
            <a:ext cx="7660754" cy="4530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E3A6A85B-89B8-0D2E-A43F-151974FA98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7CCBBCA1-1C34-DF53-7FA3-92A828DAF296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3" name="Google Shape;151;p3">
            <a:extLst>
              <a:ext uri="{FF2B5EF4-FFF2-40B4-BE49-F238E27FC236}">
                <a16:creationId xmlns:a16="http://schemas.microsoft.com/office/drawing/2014/main" id="{D05F55F2-AC83-C89A-A1DD-F6F7D7F93287}"/>
              </a:ext>
            </a:extLst>
          </p:cNvPr>
          <p:cNvSpPr txBox="1"/>
          <p:nvPr/>
        </p:nvSpPr>
        <p:spPr>
          <a:xfrm>
            <a:off x="474438" y="2551521"/>
            <a:ext cx="3812749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NOTA 2: 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 experiência do usuário é uma </a:t>
            </a:r>
            <a:r>
              <a:rPr lang="pt-BR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consequência da imagem da marca, apresentação, funcionalidade, desempenho do sistema, comportamento interativo e recursos de assistência 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do sistema interativo, o estado interno e físico do usuário resultante de experiências anteriores, atitudes, habilidades e personalidade, e o contexto de uso.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148;p3">
            <a:extLst>
              <a:ext uri="{FF2B5EF4-FFF2-40B4-BE49-F238E27FC236}">
                <a16:creationId xmlns:a16="http://schemas.microsoft.com/office/drawing/2014/main" id="{2D43DD54-073A-0D3D-3A16-CDC5AC68BE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1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 relação entre Usabilidade, IHC, DCU e UX</a:t>
            </a:r>
            <a:endParaRPr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021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410CA49D-4552-94F4-988C-9A25CA48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ECFD9E2A-3C53-1867-F49D-F442C8C6DD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680DAA03-0BB3-5134-CD52-64B68831C1F9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5" name="Google Shape;151;p3">
            <a:extLst>
              <a:ext uri="{FF2B5EF4-FFF2-40B4-BE49-F238E27FC236}">
                <a16:creationId xmlns:a16="http://schemas.microsoft.com/office/drawing/2014/main" id="{BF570B6D-0A5C-AE2E-14FC-6024FC92489C}"/>
              </a:ext>
            </a:extLst>
          </p:cNvPr>
          <p:cNvSpPr txBox="1"/>
          <p:nvPr/>
        </p:nvSpPr>
        <p:spPr>
          <a:xfrm>
            <a:off x="7364668" y="3013545"/>
            <a:ext cx="4202492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NOTA 3: 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 Usabilidade, quando </a:t>
            </a:r>
            <a:r>
              <a:rPr lang="pt-BR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interpretada da perspectiva dos objetivos pessoais dos usuários</a:t>
            </a:r>
            <a:r>
              <a:rPr lang="pt-BR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pode incluir o tipo de aspectos perceptuais e emocionais tipicamente associados à experiência do usuário. Os critérios de usabilidade podem ser usados para avaliar aspectos da experiência do usuário (NBR ISO 9241-210, 2011). </a:t>
            </a:r>
            <a:endParaRPr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98" name="Picture 2" descr="Ergonomia e Usabilidade para design digital - Faberhaus Play">
            <a:extLst>
              <a:ext uri="{FF2B5EF4-FFF2-40B4-BE49-F238E27FC236}">
                <a16:creationId xmlns:a16="http://schemas.microsoft.com/office/drawing/2014/main" id="{7393919A-E583-26A6-13A3-F5593E93F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6" b="16065"/>
          <a:stretch/>
        </p:blipFill>
        <p:spPr bwMode="auto">
          <a:xfrm>
            <a:off x="594360" y="1933731"/>
            <a:ext cx="6406047" cy="481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48;p3">
            <a:extLst>
              <a:ext uri="{FF2B5EF4-FFF2-40B4-BE49-F238E27FC236}">
                <a16:creationId xmlns:a16="http://schemas.microsoft.com/office/drawing/2014/main" id="{E3DDDEFF-CBBE-40D7-DD1D-0FE48D61D8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1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 relação entre Usabilidade, IHC, DCU e UX</a:t>
            </a:r>
            <a:endParaRPr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298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D2A06B40-1E5C-346E-B5A0-B49AE450B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326F361C-C3D5-D0C2-E622-EF95DBE328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65FEB8B5-3488-2496-5C95-8B62DF4F13EE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5" name="Google Shape;151;p3">
            <a:extLst>
              <a:ext uri="{FF2B5EF4-FFF2-40B4-BE49-F238E27FC236}">
                <a16:creationId xmlns:a16="http://schemas.microsoft.com/office/drawing/2014/main" id="{43501E16-6F00-7A94-4C6B-D410C764854A}"/>
              </a:ext>
            </a:extLst>
          </p:cNvPr>
          <p:cNvSpPr txBox="1"/>
          <p:nvPr/>
        </p:nvSpPr>
        <p:spPr>
          <a:xfrm>
            <a:off x="594360" y="2398948"/>
            <a:ext cx="5056932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Avaliação </a:t>
            </a:r>
            <a:r>
              <a:rPr lang="pt-BR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FORMATIVA</a:t>
            </a: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(durante o design): 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verifica se o produto </a:t>
            </a:r>
            <a:r>
              <a:rPr lang="pt-BR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continua atendendo o usuário durante toda a etapa de desenvolvimento do produto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 Aplicam-se diversas abordagens e técnicas que podem ser utilizadas ao longo do processo. A quantidade de vezes que estas avaliações são realizadas dependerá do modelo de ciclo de vida adotado no projeto e abrange o envolvimento de diferentes stakeholders.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148;p3">
            <a:extLst>
              <a:ext uri="{FF2B5EF4-FFF2-40B4-BE49-F238E27FC236}">
                <a16:creationId xmlns:a16="http://schemas.microsoft.com/office/drawing/2014/main" id="{9185EF03-6052-0A5F-66E5-40A3B7B677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1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Tipos de Avaliação em UX</a:t>
            </a:r>
            <a:endParaRPr sz="3200" dirty="0">
              <a:solidFill>
                <a:srgbClr val="002060"/>
              </a:solidFill>
            </a:endParaRPr>
          </a:p>
        </p:txBody>
      </p:sp>
      <p:sp>
        <p:nvSpPr>
          <p:cNvPr id="2" name="Google Shape;151;p3">
            <a:extLst>
              <a:ext uri="{FF2B5EF4-FFF2-40B4-BE49-F238E27FC236}">
                <a16:creationId xmlns:a16="http://schemas.microsoft.com/office/drawing/2014/main" id="{EF584A71-92D4-B559-6385-3336788225AC}"/>
              </a:ext>
            </a:extLst>
          </p:cNvPr>
          <p:cNvSpPr txBox="1"/>
          <p:nvPr/>
        </p:nvSpPr>
        <p:spPr>
          <a:xfrm>
            <a:off x="6230911" y="3322278"/>
            <a:ext cx="5056932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Avaliação </a:t>
            </a:r>
            <a:r>
              <a:rPr lang="pt-BR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SOMATIVA</a:t>
            </a: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(ao final do processo): </a:t>
            </a:r>
            <a:r>
              <a:rPr lang="pt-BR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ao final do desenvolvimento do produto </a:t>
            </a:r>
            <a:r>
              <a:rPr lang="pt-BR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avalia o sucesso do produto finalizado. Com os resultados, podem ser realizados os ajustes necessários ou, no máximo, a ‘reelaboração’ de alguma tarefa que se mostrou inviável de ser executada pelo usuário. 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745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A4721495-658A-70B8-303E-ECBC0B9C3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A16BB42A-2CE3-BBFB-CE5B-7642294340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B048E973-7FAD-502D-9D31-9F9DE1FCED3E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7" name="Google Shape;148;p3">
            <a:extLst>
              <a:ext uri="{FF2B5EF4-FFF2-40B4-BE49-F238E27FC236}">
                <a16:creationId xmlns:a16="http://schemas.microsoft.com/office/drawing/2014/main" id="{2BD1AB78-36FA-71C4-3123-E57D5B9E21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1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Principais técnicas em 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UX </a:t>
            </a:r>
            <a:r>
              <a:rPr lang="pt-BR" sz="3200" b="0" i="0" u="none" strike="noStrike" cap="none" dirty="0" err="1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Research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</a:t>
            </a:r>
            <a:endParaRPr sz="3200" dirty="0">
              <a:solidFill>
                <a:srgbClr val="002060"/>
              </a:solidFill>
            </a:endParaRPr>
          </a:p>
        </p:txBody>
      </p:sp>
      <p:pic>
        <p:nvPicPr>
          <p:cNvPr id="1026" name="Picture 2" descr="Conheça as principais dimensões do UX Research e saiba quando usá-las -  Mergo Escola de Design">
            <a:extLst>
              <a:ext uri="{FF2B5EF4-FFF2-40B4-BE49-F238E27FC236}">
                <a16:creationId xmlns:a16="http://schemas.microsoft.com/office/drawing/2014/main" id="{CF7B14EC-4B8C-FE3B-EB6F-5DD570189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847" y="2645664"/>
            <a:ext cx="7854429" cy="377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096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A558309F-6BAF-4B5E-1D06-6610DA8CF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9DD3328F-2880-957C-5491-9B3B77A602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C2C8E4C9-C039-4ACC-21D8-85CD68B8EB27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5" name="Google Shape;151;p3">
            <a:extLst>
              <a:ext uri="{FF2B5EF4-FFF2-40B4-BE49-F238E27FC236}">
                <a16:creationId xmlns:a16="http://schemas.microsoft.com/office/drawing/2014/main" id="{8AEF92B4-E6E5-C176-B451-F4C53E7DA671}"/>
              </a:ext>
            </a:extLst>
          </p:cNvPr>
          <p:cNvSpPr txBox="1"/>
          <p:nvPr/>
        </p:nvSpPr>
        <p:spPr>
          <a:xfrm>
            <a:off x="4087068" y="2258428"/>
            <a:ext cx="6705850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1. TESTE DE USABILIDADE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CONCEITO/USO: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Usuários realizam tarefas específicas enquanto observamos interações.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VANTAGENS: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 problemas reais de interface.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Fornece dados qualitativos e quantitativos.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LIMITAÇÕES: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 e tempo para recrutar participantes.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Focado apenas nas tarefas testadas.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148;p3">
            <a:extLst>
              <a:ext uri="{FF2B5EF4-FFF2-40B4-BE49-F238E27FC236}">
                <a16:creationId xmlns:a16="http://schemas.microsoft.com/office/drawing/2014/main" id="{2E71B226-81D6-CE5D-061C-F54145C8D5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1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Principais técnicas em 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UX </a:t>
            </a:r>
            <a:r>
              <a:rPr lang="pt-BR" sz="3200" b="0" i="0" u="none" strike="noStrike" cap="none" dirty="0" err="1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Research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</a:t>
            </a:r>
            <a:endParaRPr sz="3200" dirty="0">
              <a:solidFill>
                <a:srgbClr val="002060"/>
              </a:solidFill>
            </a:endParaRPr>
          </a:p>
        </p:txBody>
      </p:sp>
      <p:pic>
        <p:nvPicPr>
          <p:cNvPr id="5122" name="Picture 2" descr="Teste de Usabilidade? Como usar na minha empresa? Vem ler sobre UX!">
            <a:extLst>
              <a:ext uri="{FF2B5EF4-FFF2-40B4-BE49-F238E27FC236}">
                <a16:creationId xmlns:a16="http://schemas.microsoft.com/office/drawing/2014/main" id="{1FC1AB68-E4E5-C0DF-1447-715B0BC22A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663"/>
          <a:stretch/>
        </p:blipFill>
        <p:spPr bwMode="auto">
          <a:xfrm>
            <a:off x="594360" y="2364699"/>
            <a:ext cx="2986839" cy="2720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282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CD36C388-A1DF-14AC-4220-236DB4A31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D348153F-F5CA-27CC-281B-DADDE56876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 descr="Teste de usabilidade rápido, barato e remoto. Tem como? | by André  Bernardes | UX Falando | UX Collective 🇧🇷">
            <a:extLst>
              <a:ext uri="{FF2B5EF4-FFF2-40B4-BE49-F238E27FC236}">
                <a16:creationId xmlns:a16="http://schemas.microsoft.com/office/drawing/2014/main" id="{D2D90AB2-620B-244E-43F5-9682843CB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97" y="0"/>
            <a:ext cx="102393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163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41D462A8-DC25-7527-EF94-4EE73928B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22D2CC55-054D-66D5-9A4B-15F643E815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9AFFEEDD-5099-8B1A-0288-9C1DDD1F4E76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5" name="Google Shape;151;p3">
            <a:extLst>
              <a:ext uri="{FF2B5EF4-FFF2-40B4-BE49-F238E27FC236}">
                <a16:creationId xmlns:a16="http://schemas.microsoft.com/office/drawing/2014/main" id="{F72D5A3C-E3AF-99E4-DD42-1786E1EAF767}"/>
              </a:ext>
            </a:extLst>
          </p:cNvPr>
          <p:cNvSpPr txBox="1"/>
          <p:nvPr/>
        </p:nvSpPr>
        <p:spPr>
          <a:xfrm>
            <a:off x="4087068" y="2258428"/>
            <a:ext cx="6705850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2. ENTREVISTAS COM USUÁRIO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CONCEITO/USO: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Diálogos para entender necessidades, contexto e percepções.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VANTAGENS: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profundos sobre comportamentos e motivações.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LIMITAÇÕES: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Risco de viés do entrevistador.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Demanda tempo para análise.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148;p3">
            <a:extLst>
              <a:ext uri="{FF2B5EF4-FFF2-40B4-BE49-F238E27FC236}">
                <a16:creationId xmlns:a16="http://schemas.microsoft.com/office/drawing/2014/main" id="{9BA6A91C-93FA-AE3A-76BA-2AF9D03FD8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1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Principais técnicas em 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UX </a:t>
            </a:r>
            <a:r>
              <a:rPr lang="pt-BR" sz="3200" b="0" i="0" u="none" strike="noStrike" cap="none" dirty="0" err="1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Research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</a:t>
            </a:r>
            <a:endParaRPr sz="3200" dirty="0">
              <a:solidFill>
                <a:srgbClr val="002060"/>
              </a:solidFill>
            </a:endParaRPr>
          </a:p>
        </p:txBody>
      </p:sp>
      <p:pic>
        <p:nvPicPr>
          <p:cNvPr id="6146" name="Picture 2" descr="7 dicas para encarar o entrevistador como seu cliente - Distribuição">
            <a:extLst>
              <a:ext uri="{FF2B5EF4-FFF2-40B4-BE49-F238E27FC236}">
                <a16:creationId xmlns:a16="http://schemas.microsoft.com/office/drawing/2014/main" id="{01817FEF-7D2B-95A5-01BF-E5302C3DA2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56" r="19790"/>
          <a:stretch/>
        </p:blipFill>
        <p:spPr bwMode="auto">
          <a:xfrm>
            <a:off x="594360" y="2364699"/>
            <a:ext cx="3147935" cy="2720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366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0775F86B-D2BE-7E10-CB7B-B62DC0C65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A7DCFB33-9472-DEA7-AC49-A619C2FE54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13AF083D-8452-884E-945E-C5385CC6E341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pic>
        <p:nvPicPr>
          <p:cNvPr id="3" name="Picture 2" descr="Como montar um roteiro de entrevistas em profundidade? | by Jeferson  Tornisielo | Hub de Design TOTVS | Medium">
            <a:extLst>
              <a:ext uri="{FF2B5EF4-FFF2-40B4-BE49-F238E27FC236}">
                <a16:creationId xmlns:a16="http://schemas.microsoft.com/office/drawing/2014/main" id="{FA71BE34-88D0-90A4-E9C7-D3806AFD9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12192000" cy="68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262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0430A4A5-43E4-F34D-F073-968AD50D2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Roteiro de Entrevista | UX Strategy: divergindo e afunilando ideias |  Solucionado">
            <a:extLst>
              <a:ext uri="{FF2B5EF4-FFF2-40B4-BE49-F238E27FC236}">
                <a16:creationId xmlns:a16="http://schemas.microsoft.com/office/drawing/2014/main" id="{4CFCA8AD-34E6-01B2-2D83-8E71C5886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6534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F8DF24DE-476D-EBAD-AE16-F347620A608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38DCB8D5-B812-21F5-7B53-42178E0A9579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9275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F0368A45-0FE7-5609-C964-2CB310943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B0DB45ED-1D44-EFE8-F682-52B515A525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528DFA4C-5B43-EE9C-B5E2-A16888A06CFD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5" name="Google Shape;151;p3">
            <a:extLst>
              <a:ext uri="{FF2B5EF4-FFF2-40B4-BE49-F238E27FC236}">
                <a16:creationId xmlns:a16="http://schemas.microsoft.com/office/drawing/2014/main" id="{1FBF4C62-8A44-9F94-B93A-F8D9345202F1}"/>
              </a:ext>
            </a:extLst>
          </p:cNvPr>
          <p:cNvSpPr txBox="1"/>
          <p:nvPr/>
        </p:nvSpPr>
        <p:spPr>
          <a:xfrm>
            <a:off x="4087068" y="2258428"/>
            <a:ext cx="6705850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pt-BR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 ANÁLISE DE MÉTRICAS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CONCEITO/USO: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Coleta de dados quantitativos (cliques, tempo de navegação).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VANTAGENS: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Revela padrões de uso em larga escala.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LIMITAÇÕES: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 explica "porquês" (requer complementação com métodos qualitativos)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148;p3">
            <a:extLst>
              <a:ext uri="{FF2B5EF4-FFF2-40B4-BE49-F238E27FC236}">
                <a16:creationId xmlns:a16="http://schemas.microsoft.com/office/drawing/2014/main" id="{EF6FCD9C-4298-BBDC-3A56-ABCD2C327D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1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Principais técnicas em 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UX </a:t>
            </a:r>
            <a:r>
              <a:rPr lang="pt-BR" sz="3200" b="0" i="0" u="none" strike="noStrike" cap="none" dirty="0" err="1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Research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</a:t>
            </a:r>
            <a:endParaRPr sz="3200" dirty="0">
              <a:solidFill>
                <a:srgbClr val="002060"/>
              </a:solidFill>
            </a:endParaRPr>
          </a:p>
        </p:txBody>
      </p:sp>
      <p:pic>
        <p:nvPicPr>
          <p:cNvPr id="7170" name="Picture 2" descr="A Importância da Análise de Métricas para o Desempenho das Áreas de Negócio">
            <a:extLst>
              <a:ext uri="{FF2B5EF4-FFF2-40B4-BE49-F238E27FC236}">
                <a16:creationId xmlns:a16="http://schemas.microsoft.com/office/drawing/2014/main" id="{E71FB61E-6E69-990C-FF4A-62B26994C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2397397"/>
            <a:ext cx="3335515" cy="2063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1935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431C14DD-F939-B5D2-75E2-B59C02C08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7E4DC164-6E71-031D-0E5F-14A622882F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AA2101E4-B254-98D4-D0EF-BC4E3C88626D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7" name="Google Shape;148;p3">
            <a:extLst>
              <a:ext uri="{FF2B5EF4-FFF2-40B4-BE49-F238E27FC236}">
                <a16:creationId xmlns:a16="http://schemas.microsoft.com/office/drawing/2014/main" id="{85657A7D-E936-E8CA-079D-726D6395B7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1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Principais técnicas em 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UX </a:t>
            </a:r>
            <a:r>
              <a:rPr lang="pt-BR" sz="3200" b="0" i="0" u="none" strike="noStrike" cap="none" dirty="0" err="1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Research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</a:t>
            </a:r>
            <a:endParaRPr sz="3200" dirty="0">
              <a:solidFill>
                <a:srgbClr val="002060"/>
              </a:solidFill>
            </a:endParaRPr>
          </a:p>
        </p:txBody>
      </p:sp>
      <p:pic>
        <p:nvPicPr>
          <p:cNvPr id="3074" name="Picture 2" descr="Métricas de UX, o que são e como definir | by Juliana do Vale | Medium">
            <a:extLst>
              <a:ext uri="{FF2B5EF4-FFF2-40B4-BE49-F238E27FC236}">
                <a16:creationId xmlns:a16="http://schemas.microsoft.com/office/drawing/2014/main" id="{63D16348-0AE4-2453-8A70-8A2EABDBA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59" y="2323494"/>
            <a:ext cx="7583673" cy="397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255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763C6698-22AE-D3A2-EFC1-42FF1DC14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Métricas focadas em usuários: implementando um framework para medir o  sucesso da UX | by Sergio Alberti | Tech at Quero | Medium">
            <a:extLst>
              <a:ext uri="{FF2B5EF4-FFF2-40B4-BE49-F238E27FC236}">
                <a16:creationId xmlns:a16="http://schemas.microsoft.com/office/drawing/2014/main" id="{FC92591C-3F57-40D0-5353-874D478B6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2269225"/>
            <a:ext cx="8319541" cy="449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2A1E1A2C-4C12-11DE-D3B9-FA70E2E7F4A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7A91ED53-BE2D-71F6-00BD-21149B8DB6FB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7" name="Google Shape;148;p3">
            <a:extLst>
              <a:ext uri="{FF2B5EF4-FFF2-40B4-BE49-F238E27FC236}">
                <a16:creationId xmlns:a16="http://schemas.microsoft.com/office/drawing/2014/main" id="{FCFBBB10-107A-2F02-94B6-94BC9BCB47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1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Principais técnicas em 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UX </a:t>
            </a:r>
            <a:r>
              <a:rPr lang="pt-BR" sz="3200" b="0" i="0" u="none" strike="noStrike" cap="none" dirty="0" err="1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Research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</a:t>
            </a:r>
            <a:endParaRPr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52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6C3ECC58-0079-ED85-9727-349CDDBF9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6EC3C481-4A48-9272-4E59-17F739F941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F425C48B-5A5E-5D52-38D1-653784C72B41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5" name="Google Shape;151;p3">
            <a:extLst>
              <a:ext uri="{FF2B5EF4-FFF2-40B4-BE49-F238E27FC236}">
                <a16:creationId xmlns:a16="http://schemas.microsoft.com/office/drawing/2014/main" id="{0A2241E3-92A8-7175-8F25-EDADABB2D4CC}"/>
              </a:ext>
            </a:extLst>
          </p:cNvPr>
          <p:cNvSpPr txBox="1"/>
          <p:nvPr/>
        </p:nvSpPr>
        <p:spPr>
          <a:xfrm>
            <a:off x="4087068" y="2258428"/>
            <a:ext cx="6705850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4. AVALIAÇÃO HEURÍSTICA (NIELSEN)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CONCEITO/USO: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Especialistas avaliam a interface com base em princípios pré-definidos.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VANTAGENS: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Rápida e de baixo custo.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LIMITAÇÕES: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Dependente da expertise do avaliador.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148;p3">
            <a:extLst>
              <a:ext uri="{FF2B5EF4-FFF2-40B4-BE49-F238E27FC236}">
                <a16:creationId xmlns:a16="http://schemas.microsoft.com/office/drawing/2014/main" id="{BD3FE1B3-6D0B-634B-6854-B5F6C44602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1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Principais técnicas em 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UX </a:t>
            </a:r>
            <a:r>
              <a:rPr lang="pt-BR" sz="3200" b="0" i="0" u="none" strike="noStrike" cap="none" dirty="0" err="1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Research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</a:t>
            </a:r>
            <a:endParaRPr sz="3200" dirty="0">
              <a:solidFill>
                <a:srgbClr val="002060"/>
              </a:solidFill>
            </a:endParaRPr>
          </a:p>
        </p:txBody>
      </p:sp>
      <p:pic>
        <p:nvPicPr>
          <p:cNvPr id="7170" name="Picture 2" descr="A Importância da Análise de Métricas para o Desempenho das Áreas de Negócio">
            <a:extLst>
              <a:ext uri="{FF2B5EF4-FFF2-40B4-BE49-F238E27FC236}">
                <a16:creationId xmlns:a16="http://schemas.microsoft.com/office/drawing/2014/main" id="{C2ED21A4-C95C-D0A4-83FD-8A4C66D4F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2397397"/>
            <a:ext cx="3335515" cy="2063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859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FADD6797-FDBD-02C3-E3E6-8833CE9BC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E80C28E4-F8EA-0139-303E-4BCEC78B4C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734213F9-6C0D-31C1-E78D-990DCC034D05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7" name="Google Shape;148;p3">
            <a:extLst>
              <a:ext uri="{FF2B5EF4-FFF2-40B4-BE49-F238E27FC236}">
                <a16:creationId xmlns:a16="http://schemas.microsoft.com/office/drawing/2014/main" id="{5541C11F-4705-BE3B-3578-01A86BAF9D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1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Principais técnicas em 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UX </a:t>
            </a:r>
            <a:r>
              <a:rPr lang="pt-BR" sz="3200" b="0" i="0" u="none" strike="noStrike" cap="none" dirty="0" err="1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Research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</a:t>
            </a:r>
            <a:endParaRPr sz="3200" dirty="0">
              <a:solidFill>
                <a:srgbClr val="002060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7F62003-7BFF-2E26-7AD4-C28EA168F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2702349"/>
            <a:ext cx="6667500" cy="332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C88D60A-CC9D-CCBD-B062-DC3B1841D269}"/>
              </a:ext>
            </a:extLst>
          </p:cNvPr>
          <p:cNvSpPr txBox="1"/>
          <p:nvPr/>
        </p:nvSpPr>
        <p:spPr>
          <a:xfrm>
            <a:off x="7427626" y="2270481"/>
            <a:ext cx="3755036" cy="37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  <a:buNone/>
            </a:pPr>
            <a:r>
              <a:rPr lang="pt-BR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0 - Sem Importância:</a:t>
            </a:r>
            <a:r>
              <a:rPr lang="pt-BR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não afeta a operação da interface para todos usuários, não sendo encarado necessariamente como um problema de usabilidade.</a:t>
            </a:r>
          </a:p>
          <a:p>
            <a:pPr algn="just">
              <a:lnSpc>
                <a:spcPts val="2400"/>
              </a:lnSpc>
              <a:buNone/>
            </a:pPr>
            <a:r>
              <a:rPr lang="pt-BR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1- Cosmético:</a:t>
            </a:r>
            <a:r>
              <a:rPr lang="pt-BR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não necessita ser reparado, a menos que haja tempo disponível.</a:t>
            </a:r>
          </a:p>
          <a:p>
            <a:pPr algn="just">
              <a:lnSpc>
                <a:spcPts val="2400"/>
              </a:lnSpc>
              <a:buNone/>
            </a:pPr>
            <a:r>
              <a:rPr lang="pt-BR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2 - Simples:</a:t>
            </a:r>
            <a:r>
              <a:rPr lang="pt-BR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pode ser reparado, com baixa prioridade de correção.</a:t>
            </a:r>
          </a:p>
          <a:p>
            <a:pPr algn="just">
              <a:lnSpc>
                <a:spcPts val="2400"/>
              </a:lnSpc>
              <a:buNone/>
            </a:pPr>
            <a:r>
              <a:rPr lang="pt-BR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3 - Grave:</a:t>
            </a:r>
            <a:r>
              <a:rPr lang="pt-BR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deve ser reparado, com alta prioridade de correção.</a:t>
            </a:r>
          </a:p>
          <a:p>
            <a:pPr algn="just">
              <a:lnSpc>
                <a:spcPts val="2400"/>
              </a:lnSpc>
            </a:pPr>
            <a:r>
              <a:rPr lang="pt-BR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4 - Catastrófico:</a:t>
            </a:r>
            <a:r>
              <a:rPr lang="pt-BR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deve ser reparado de qualquer forma antes do produto ser disponibilizado.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437887B-B4B9-4A1F-EFA2-B4C890201E0F}"/>
              </a:ext>
            </a:extLst>
          </p:cNvPr>
          <p:cNvSpPr txBox="1"/>
          <p:nvPr/>
        </p:nvSpPr>
        <p:spPr>
          <a:xfrm>
            <a:off x="594360" y="2270481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18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AVALIAÇÃO HEURÍSTICA (NIELSEN)</a:t>
            </a:r>
          </a:p>
        </p:txBody>
      </p:sp>
    </p:spTree>
    <p:extLst>
      <p:ext uri="{BB962C8B-B14F-4D97-AF65-F5344CB8AC3E}">
        <p14:creationId xmlns:p14="http://schemas.microsoft.com/office/powerpoint/2010/main" val="3562536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860B74A4-E4B2-4453-A0DA-8CE69FAB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54981361-88D4-C7B9-CE8E-9620D6AFB0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DE8AFEA6-8D68-2F25-125B-71A2AEA0B47A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5" name="Google Shape;151;p3">
            <a:extLst>
              <a:ext uri="{FF2B5EF4-FFF2-40B4-BE49-F238E27FC236}">
                <a16:creationId xmlns:a16="http://schemas.microsoft.com/office/drawing/2014/main" id="{8D1035E4-09E4-680B-F497-4465716EB142}"/>
              </a:ext>
            </a:extLst>
          </p:cNvPr>
          <p:cNvSpPr txBox="1"/>
          <p:nvPr/>
        </p:nvSpPr>
        <p:spPr>
          <a:xfrm>
            <a:off x="4087068" y="2258428"/>
            <a:ext cx="6705850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pt-BR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 QUESTIONÁRIOS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CONCEITO/USO: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Coleta de feedback quantitativo via perguntas estruturadas.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VANTAGENS: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Escalável e fácil de analisar.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LIMITAÇÕES: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Limitação em explorar questões complexas.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148;p3">
            <a:extLst>
              <a:ext uri="{FF2B5EF4-FFF2-40B4-BE49-F238E27FC236}">
                <a16:creationId xmlns:a16="http://schemas.microsoft.com/office/drawing/2014/main" id="{8979149E-6C74-48A0-5D47-3EB4AB5B64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1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Principais técnicas em 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UX </a:t>
            </a:r>
            <a:r>
              <a:rPr lang="pt-BR" sz="3200" b="0" i="0" u="none" strike="noStrike" cap="none" dirty="0" err="1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Research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</a:t>
            </a:r>
            <a:endParaRPr sz="3200" dirty="0">
              <a:solidFill>
                <a:srgbClr val="002060"/>
              </a:solidFill>
            </a:endParaRPr>
          </a:p>
        </p:txBody>
      </p:sp>
      <p:pic>
        <p:nvPicPr>
          <p:cNvPr id="8194" name="Picture 2" descr="No Piauí, 219 entes finalizaram envio do questionário Sinaque - Tribunal de  Contas do Estado do Piauí">
            <a:extLst>
              <a:ext uri="{FF2B5EF4-FFF2-40B4-BE49-F238E27FC236}">
                <a16:creationId xmlns:a16="http://schemas.microsoft.com/office/drawing/2014/main" id="{5DBD0F55-D004-279C-7C29-249388D43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2463612"/>
            <a:ext cx="2976117" cy="297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9317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FF7E21F2-7AB1-47CE-BF15-E8F27A23A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859F3007-4288-F4B8-9A2E-1F0DB9962A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s principais métricas para avaliar a usabilidade de uma interface | by  Amanda Nunes / Ada :) | UX Collective 🇧🇷">
            <a:extLst>
              <a:ext uri="{FF2B5EF4-FFF2-40B4-BE49-F238E27FC236}">
                <a16:creationId xmlns:a16="http://schemas.microsoft.com/office/drawing/2014/main" id="{45F41C3B-4B82-A1D0-1ED4-25C03A343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7554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6501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0C457A7F-1507-C7EF-F9B3-E0C758069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Questionário SUS com 10 perguntas que são intercaladas entre afirmações positivas e negativas com relação ao sistema avaliado.">
            <a:extLst>
              <a:ext uri="{FF2B5EF4-FFF2-40B4-BE49-F238E27FC236}">
                <a16:creationId xmlns:a16="http://schemas.microsoft.com/office/drawing/2014/main" id="{07F7AAFB-2A7A-B900-D5C5-60445085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66" y="0"/>
            <a:ext cx="1160406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453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ECB80D2B-3D61-4CE3-3D52-1481ACEF6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E0532A89-5C3E-8A2A-F35B-742BBE554C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20619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>
            <a:extLst>
              <a:ext uri="{FF2B5EF4-FFF2-40B4-BE49-F238E27FC236}">
                <a16:creationId xmlns:a16="http://schemas.microsoft.com/office/drawing/2014/main" id="{D0B41D0B-470A-9F61-D451-3A7E57262555}"/>
              </a:ext>
            </a:extLst>
          </p:cNvPr>
          <p:cNvSpPr txBox="1"/>
          <p:nvPr/>
        </p:nvSpPr>
        <p:spPr>
          <a:xfrm>
            <a:off x="9958693" y="630326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7" name="Google Shape;148;p3">
            <a:extLst>
              <a:ext uri="{FF2B5EF4-FFF2-40B4-BE49-F238E27FC236}">
                <a16:creationId xmlns:a16="http://schemas.microsoft.com/office/drawing/2014/main" id="{17C19BF9-E42A-B47D-43F6-FEA19C33FD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Pesquisa de Experiência do Usuário (UX)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200" b="1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Principais técnicas em 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UX </a:t>
            </a:r>
            <a:r>
              <a:rPr lang="pt-BR" sz="3200" b="0" i="0" u="none" strike="noStrike" cap="none" dirty="0" err="1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Research</a:t>
            </a:r>
            <a:r>
              <a:rPr lang="pt-BR" sz="3200" b="0" i="0" u="none" strike="noStrike" cap="none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</a:t>
            </a:r>
            <a:endParaRPr sz="3200" dirty="0">
              <a:solidFill>
                <a:srgbClr val="002060"/>
              </a:solidFill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80E876CA-C327-FC2F-E541-BE3A6EAC1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466223"/>
              </p:ext>
            </p:extLst>
          </p:nvPr>
        </p:nvGraphicFramePr>
        <p:xfrm>
          <a:off x="594360" y="3119497"/>
          <a:ext cx="10382249" cy="2788920"/>
        </p:xfrm>
        <a:graphic>
          <a:graphicData uri="http://schemas.openxmlformats.org/drawingml/2006/table">
            <a:tbl>
              <a:tblPr/>
              <a:tblGrid>
                <a:gridCol w="2329357">
                  <a:extLst>
                    <a:ext uri="{9D8B030D-6E8A-4147-A177-3AD203B41FA5}">
                      <a16:colId xmlns:a16="http://schemas.microsoft.com/office/drawing/2014/main" val="3871594897"/>
                    </a:ext>
                  </a:extLst>
                </a:gridCol>
                <a:gridCol w="2838764">
                  <a:extLst>
                    <a:ext uri="{9D8B030D-6E8A-4147-A177-3AD203B41FA5}">
                      <a16:colId xmlns:a16="http://schemas.microsoft.com/office/drawing/2014/main" val="1646286124"/>
                    </a:ext>
                  </a:extLst>
                </a:gridCol>
                <a:gridCol w="2607064">
                  <a:extLst>
                    <a:ext uri="{9D8B030D-6E8A-4147-A177-3AD203B41FA5}">
                      <a16:colId xmlns:a16="http://schemas.microsoft.com/office/drawing/2014/main" val="765234367"/>
                    </a:ext>
                  </a:extLst>
                </a:gridCol>
                <a:gridCol w="2607064">
                  <a:extLst>
                    <a:ext uri="{9D8B030D-6E8A-4147-A177-3AD203B41FA5}">
                      <a16:colId xmlns:a16="http://schemas.microsoft.com/office/drawing/2014/main" val="12320544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pt-BR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Técnica</a:t>
                      </a: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Uso Principal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Vantagens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Limitações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72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Teste de Usabilidade</a:t>
                      </a: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Validar interfaces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Dados diretos do usuário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 e tempo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20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Entrevistas</a:t>
                      </a: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Explorar necessidades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Insights profundos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Viés do entrevistador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320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Análise de Métricas</a:t>
                      </a: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Padrões de uso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Escalável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Dados superficiais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301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Avaliação Heurística</a:t>
                      </a: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Identificar problemas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Rápida e barata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Depende de especialista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242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Questionários</a:t>
                      </a: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Feedback quantitativo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Fácil análise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Limitação em detalhes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610168"/>
                  </a:ext>
                </a:extLst>
              </a:tr>
            </a:tbl>
          </a:graphicData>
        </a:graphic>
      </p:graphicFrame>
      <p:sp>
        <p:nvSpPr>
          <p:cNvPr id="3" name="Google Shape;151;p3">
            <a:extLst>
              <a:ext uri="{FF2B5EF4-FFF2-40B4-BE49-F238E27FC236}">
                <a16:creationId xmlns:a16="http://schemas.microsoft.com/office/drawing/2014/main" id="{A6953629-0423-A515-1A92-EDDECA8F5A16}"/>
              </a:ext>
            </a:extLst>
          </p:cNvPr>
          <p:cNvSpPr txBox="1"/>
          <p:nvPr/>
        </p:nvSpPr>
        <p:spPr>
          <a:xfrm>
            <a:off x="594360" y="2421648"/>
            <a:ext cx="670585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COMPARATIVO DAS TÉCNICAS DE PESQUISA EM UX</a:t>
            </a:r>
          </a:p>
        </p:txBody>
      </p:sp>
    </p:spTree>
    <p:extLst>
      <p:ext uri="{BB962C8B-B14F-4D97-AF65-F5344CB8AC3E}">
        <p14:creationId xmlns:p14="http://schemas.microsoft.com/office/powerpoint/2010/main" val="2941424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"/>
          <p:cNvSpPr txBox="1"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</a:pPr>
            <a:r>
              <a:rPr lang="pt-BR" sz="60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Obrigado</a:t>
            </a:r>
            <a:endParaRPr/>
          </a:p>
        </p:txBody>
      </p:sp>
      <p:sp>
        <p:nvSpPr>
          <p:cNvPr id="380" name="Google Shape;380;p20"/>
          <p:cNvSpPr txBox="1">
            <a:spLocks noGrp="1"/>
          </p:cNvSpPr>
          <p:nvPr>
            <p:ph type="body" idx="1"/>
          </p:nvPr>
        </p:nvSpPr>
        <p:spPr>
          <a:xfrm>
            <a:off x="594360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MSc. Emmanoel Monteiro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@emmanoelmonteiro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1553</Words>
  <Application>Microsoft Office PowerPoint</Application>
  <PresentationFormat>Widescreen</PresentationFormat>
  <Paragraphs>183</Paragraphs>
  <Slides>26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Franklin Gothic</vt:lpstr>
      <vt:lpstr>Libre Franklin</vt:lpstr>
      <vt:lpstr>Arial</vt:lpstr>
      <vt:lpstr>Calibri</vt:lpstr>
      <vt:lpstr>Personalizado</vt:lpstr>
      <vt:lpstr>DESIGN CENTRADO NO SER HUMANO: Métodos de Pesquisa de Experiência do Usuário (UX) | UX Research</vt:lpstr>
      <vt:lpstr>Agenda</vt:lpstr>
      <vt:lpstr>Pesquisa de Experiência do Usuário (UX) O que é UX Research?</vt:lpstr>
      <vt:lpstr>Pesquisa de Experiência do Usuário (UX) Importância para desenvolvedores</vt:lpstr>
      <vt:lpstr>Pesquisa de Experiência do Usuário (UX) A relação entre Usabilidade, IHC, DCU e UX</vt:lpstr>
      <vt:lpstr>Pesquisa de Experiência do Usuário (UX) A relação entre Usabilidade, IHC, DCU e UX</vt:lpstr>
      <vt:lpstr>Pesquisa de Experiência do Usuário (UX) A relação entre Usabilidade, IHC, DCU e UX</vt:lpstr>
      <vt:lpstr>Pesquisa de Experiência do Usuário (UX) A relação entre Usabilidade, IHC, DCU e UX</vt:lpstr>
      <vt:lpstr>Pesquisa de Experiência do Usuário (UX) A relação entre Usabilidade, IHC, DCU e UX</vt:lpstr>
      <vt:lpstr>Pesquisa de Experiência do Usuário (UX) Tipos de Avaliação em UX</vt:lpstr>
      <vt:lpstr>Pesquisa de Experiência do Usuário (UX) Principais técnicas em UX Research.</vt:lpstr>
      <vt:lpstr>Pesquisa de Experiência do Usuário (UX) Principais técnicas em UX Research.</vt:lpstr>
      <vt:lpstr>Apresentação do PowerPoint</vt:lpstr>
      <vt:lpstr>Pesquisa de Experiência do Usuário (UX) Principais técnicas em UX Research.</vt:lpstr>
      <vt:lpstr>Apresentação do PowerPoint</vt:lpstr>
      <vt:lpstr>Apresentação do PowerPoint</vt:lpstr>
      <vt:lpstr>Pesquisa de Experiência do Usuário (UX) Principais técnicas em UX Research.</vt:lpstr>
      <vt:lpstr>Pesquisa de Experiência do Usuário (UX) Principais técnicas em UX Research.</vt:lpstr>
      <vt:lpstr>Pesquisa de Experiência do Usuário (UX) Principais técnicas em UX Research.</vt:lpstr>
      <vt:lpstr>Pesquisa de Experiência do Usuário (UX) Principais técnicas em UX Research.</vt:lpstr>
      <vt:lpstr>Pesquisa de Experiência do Usuário (UX) Principais técnicas em UX Research.</vt:lpstr>
      <vt:lpstr>Pesquisa de Experiência do Usuário (UX) Principais técnicas em UX Research.</vt:lpstr>
      <vt:lpstr>Apresentação do PowerPoint</vt:lpstr>
      <vt:lpstr>Apresentação do PowerPoint</vt:lpstr>
      <vt:lpstr>Pesquisa de Experiência do Usuário (UX) Principais técnicas em UX Research.</vt:lpstr>
      <vt:lpstr>Obrigado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Emmanoel Monteiro de Sousa Junior</dc:creator>
  <cp:lastModifiedBy>Emmanoel Monteiro</cp:lastModifiedBy>
  <cp:revision>8</cp:revision>
  <dcterms:created xsi:type="dcterms:W3CDTF">2024-11-06T17:53:21Z</dcterms:created>
  <dcterms:modified xsi:type="dcterms:W3CDTF">2025-04-29T18:05:21Z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